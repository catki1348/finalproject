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cde5ca99-0018-e541-8f33-90d060a2ee02}">
          <p14:sldIdLst>
            <p14:sldId id="256"/>
          </p14:sldIdLst>
        </p14:section>
        <p14:section name="소개" id="{7827b4b4-6f6d-d0b1-3f75-2f0105a9e133}">
          <p14:sldIdLst>
            <p14:sldId id="257"/>
          </p14:sldIdLst>
        </p14:section>
        <p14:section name="제작 과정" id="{2ce3a1c7-dd18-83e6-4ff4-ce7bcff20980}">
          <p14:sldIdLst>
            <p14:sldId id="258"/>
          </p14:sldIdLst>
        </p14:section>
        <p14:section name="결과물" id="{0c2c9a14-d1d1-de07-649c-d84fe285f323}">
          <p14:sldIdLst>
            <p14:sldId id="259"/>
          </p14:sldIdLst>
        </p14:section>
        <p14:section name="제작 방식" id="{1a42abd5-d932-3aab-393b-56e3df65223a}">
          <p14:sldIdLst>
            <p14:sldId id="260"/>
          </p14:sldIdLst>
        </p14:section>
        <p14:section name="설계 원칙" id="{ecae3e27-bdf4-ea8b-2b26-629e6509a7d4}">
          <p14:sldIdLst>
            <p14:sldId id="261"/>
          </p14:sldIdLst>
        </p14:section>
        <p14:section name="보스" id="{bb8a2df5-5f84-e1d3-9aa0-d0fc300cae2a}">
          <p14:sldIdLst>
            <p14:sldId id="262"/>
          </p14:sldIdLst>
        </p14:section>
        <p14:section name="마무리" id="{b21bfca5-9f10-3c0a-1f07-99bc3b1c9fc0}">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지금부터 저희가 만든 2D 플랫포머 게임, '마왕성으로'의 제작 과정을 약 4분간 소개하겠습니다. 숲에서 출발해 마왕성까지, 기사가 다섯 개의 세계를 돌파하는 게임입니다.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게임의 핵심은 속도감입니다. 한 영역은 1~2분 안에 통과하도록 설계했고, 몬스터를 처치하면 가속 버프가 나와 더 빠르고 현란하게 달릴 수 있습니다. 멈춰서 기다리는 기믹은 최대한 없앴고, 보스전만 예외입니다. 구성은 5개 스테이지, 스테이지마다 5개 영역, 그리고 보스 5명입니다.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제작은 다섯 단계를 반복했습니다. 먼저 컨셉과 작업 수칙을 문서로 고정하고, AI로 캐릭터와 배경, 보스 에셋을 만듭니다. 맵은 코드와 문서로 먼저 설계하고, 승인을 받은 뒤에만 유니티에 배치합니다. 마지막으로 시뮬레이션으로 검수하고 버그를 고칩니다. 9월 15일에 시작해 약 5주 동안 커밋 38회, 씬 8개가 만들어졌습니다.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스테이지는 숲에서 시작해 숲과 동굴의 전환 구간, 용암 갱도, 악마 동굴을 지나 마왕성으로 이어집니다. 스테이지마다 배경과 발판, 함정의 분위기가 다르고, 다섯 번째 영역에서는 각 스테이지의 보스가 기다립니다.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제작은 AI와의 협업으로 진행했습니다. 클로드 코드가 설계 문서와 스크립트, 작업 수칙을 맡고, 유니티 MCP가 승인된 설계를 씬에 배치합니다. 캐릭터와 배경, 보스, 이펙트 같은 에셋은 이미지 워크플로로 생성했습니다. 오른쪽은 생성한 용암 함정 소품의 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품질은 수칙으로 지켰습니다. 발판 사이 간격은 점프 성능의 80%로도 닿게 하고, 이동형 발판의 이동 거리는 상한을 두었으며, 한 영역은 1~2분 안에 끝나게 합니다. 모든 맵은 코드와 문서로 설계하고, 시뮬레이션으로 검수한 뒤, 사용자 승인을 받아 유니티에 적용합니다. 작업 수칙 55개와 맵 수칙 23개가 문서로 관리됩니다.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스테이지의 마지막은 보스전입니다. 보스를 처치해야 종료점이 생기고, 도달하면 스테이지 클리어 화면 뒤에 다음 스테이지로 넘어갑니다. 마지막 5-5에서는 엔딩이 나옵니다. 최종 보스는 일반공격 3종과 연계 특공 2종으로 구성했고, 특공은 한 번에 40 피해를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중에는 발이 발판을 파고드는 문제, 이동형 발판 위에서 점프가 안 되는 문제, 경사면 접지 오류 같은 버그를 하나씩 원인부터 찾아 구조적으로 해결했습니다. 다음 단계는 남은 영역을 유니티에 적용하고, 보스존과 아이템을 다듬은 뒤 전체 플레이 테스트를 하는 것입니다. 이상으로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11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4111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jp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C:/Users/MBC-501-21/AppData/Local/Temp/claude/C--Users-MBC-501-21-Documents-FinalProject/2812579a-ecee-485f-bc45-60f1e059f3bb/scratchpad/img/open.jpg">    </p:cNvPr>
          <p:cNvPicPr>
            <a:picLocks noChangeAspect="1"/>
          </p:cNvPicPr>
          <p:nvPr/>
        </p:nvPicPr>
        <p:blipFill>
          <a:blip r:embed="rId1"/>
          <a:srcRect l="0" r="0" t="0" b="0"/>
          <a:stretch/>
        </p:blipFill>
        <p:spPr>
          <a:xfrm>
            <a:off x="0" y="0"/>
            <a:ext cx="9144000" cy="5143500"/>
          </a:xfrm>
          <a:prstGeom prst="rect">
            <a:avLst/>
          </a:prstGeom>
        </p:spPr>
      </p:pic>
      <p:sp>
        <p:nvSpPr>
          <p:cNvPr id="3" name="Cover panel"/>
          <p:cNvSpPr/>
          <p:nvPr/>
        </p:nvSpPr>
        <p:spPr>
          <a:xfrm>
            <a:off x="0" y="0"/>
            <a:ext cx="5394960" cy="5143500"/>
          </a:xfrm>
          <a:prstGeom prst="rect">
            <a:avLst/>
          </a:prstGeom>
          <a:solidFill>
            <a:schemeClr val="bg1">
              <a:alpha val="88000"/>
            </a:schemeClr>
          </a:solidFill>
          <a:ln/>
        </p:spPr>
      </p:sp>
      <p:sp>
        <p:nvSpPr>
          <p:cNvPr id="4" name="Title"/>
          <p:cNvSpPr txBox="1"/>
          <p:nvPr/>
        </p:nvSpPr>
        <p:spPr>
          <a:xfrm>
            <a:off x="548640" y="1371600"/>
            <a:ext cx="4572000" cy="1005840"/>
          </a:xfrm>
          <a:prstGeom prst="rect">
            <a:avLst/>
          </a:prstGeom>
          <a:noFill/>
          <a:ln/>
        </p:spPr>
        <p:txBody>
          <a:bodyPr wrap="square" lIns="0" tIns="0" rIns="0" bIns="0" rtlCol="0" anchor="ctr"/>
          <a:lstStyle/>
          <a:p>
            <a:pPr indent="0" marL="0">
              <a:buNone/>
            </a:pPr>
            <a:r>
              <a:rPr lang="en-US" sz="5400" b="1" dirty="0">
                <a:solidFill>
                  <a:schemeClr val="tx1"/>
                </a:solidFill>
              </a:rPr>
              <a:t>마왕성으로</a:t>
            </a:r>
            <a:endParaRPr lang="en-US" sz="5400" dirty="0"/>
          </a:p>
        </p:txBody>
      </p:sp>
      <p:sp>
        <p:nvSpPr>
          <p:cNvPr id="5" name="Subtitle"/>
          <p:cNvSpPr txBox="1"/>
          <p:nvPr/>
        </p:nvSpPr>
        <p:spPr>
          <a:xfrm>
            <a:off x="548640" y="2423160"/>
            <a:ext cx="4572000" cy="457200"/>
          </a:xfrm>
          <a:prstGeom prst="rect">
            <a:avLst/>
          </a:prstGeom>
          <a:noFill/>
          <a:ln/>
        </p:spPr>
        <p:txBody>
          <a:bodyPr wrap="square" lIns="0" tIns="0" rIns="0" bIns="0" rtlCol="0" anchor="ctr"/>
          <a:lstStyle/>
          <a:p>
            <a:pPr indent="0" marL="0">
              <a:buNone/>
            </a:pPr>
            <a:r>
              <a:rPr lang="en-US" sz="2400" b="1" dirty="0">
                <a:solidFill>
                  <a:schemeClr val="accent1"/>
                </a:solidFill>
              </a:rPr>
              <a:t>2D 스피디 플랫포머 제작기</a:t>
            </a:r>
            <a:endParaRPr lang="en-US" sz="2400" dirty="0"/>
          </a:p>
        </p:txBody>
      </p:sp>
      <p:sp>
        <p:nvSpPr>
          <p:cNvPr id="6" name="Period"/>
          <p:cNvSpPr txBox="1"/>
          <p:nvPr/>
        </p:nvSpPr>
        <p:spPr>
          <a:xfrm>
            <a:off x="548640" y="3108960"/>
            <a:ext cx="4572000" cy="320040"/>
          </a:xfrm>
          <a:prstGeom prst="rect">
            <a:avLst/>
          </a:prstGeom>
          <a:noFill/>
          <a:ln/>
        </p:spPr>
        <p:txBody>
          <a:bodyPr wrap="square" lIns="0" tIns="0" rIns="0" bIns="0" rtlCol="0" anchor="ctr"/>
          <a:lstStyle/>
          <a:p>
            <a:pPr indent="0" marL="0">
              <a:buNone/>
            </a:pPr>
            <a:r>
              <a:rPr lang="en-US" sz="1400" dirty="0">
                <a:solidFill>
                  <a:schemeClr val="tx2"/>
                </a:solidFill>
              </a:rPr>
              <a:t>FinalProject · 2026.09.15 – 10.19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빠르게, 현란하게 달린다</a:t>
            </a:r>
            <a:endParaRPr lang="en-US" sz="3200" dirty="0"/>
          </a:p>
        </p:txBody>
      </p:sp>
      <p:sp>
        <p:nvSpPr>
          <p:cNvPr id="3" name="Icon circle 1"/>
          <p:cNvSpPr/>
          <p:nvPr/>
        </p:nvSpPr>
        <p:spPr>
          <a:xfrm>
            <a:off x="457200" y="1280160"/>
            <a:ext cx="640080" cy="640080"/>
          </a:xfrm>
          <a:prstGeom prst="ellipse">
            <a:avLst/>
          </a:prstGeom>
          <a:solidFill>
            <a:schemeClr val="accent1"/>
          </a:solidFill>
          <a:ln/>
        </p:spPr>
      </p:sp>
      <p:pic>
        <p:nvPicPr>
          <p:cNvPr id="4" name="Icon 1" descr="preencoded.png">    </p:cNvPr>
          <p:cNvPicPr>
            <a:picLocks noChangeAspect="1"/>
          </p:cNvPicPr>
          <p:nvPr/>
        </p:nvPicPr>
        <p:blipFill>
          <a:blip r:embed="rId1"/>
          <a:stretch>
            <a:fillRect/>
          </a:stretch>
        </p:blipFill>
        <p:spPr>
          <a:xfrm>
            <a:off x="603504" y="1426464"/>
            <a:ext cx="347472" cy="347472"/>
          </a:xfrm>
          <a:prstGeom prst="rect">
            <a:avLst/>
          </a:prstGeom>
        </p:spPr>
      </p:pic>
      <p:sp>
        <p:nvSpPr>
          <p:cNvPr id="5" name="Text 2"/>
          <p:cNvSpPr txBox="1"/>
          <p:nvPr/>
        </p:nvSpPr>
        <p:spPr>
          <a:xfrm>
            <a:off x="1280160" y="1261872"/>
            <a:ext cx="3200400" cy="347472"/>
          </a:xfrm>
          <a:prstGeom prst="rect">
            <a:avLst/>
          </a:prstGeom>
          <a:noFill/>
          <a:ln/>
        </p:spPr>
        <p:txBody>
          <a:bodyPr wrap="square" lIns="0" tIns="0" rIns="0" bIns="0" rtlCol="0" anchor="ctr"/>
          <a:lstStyle/>
          <a:p>
            <a:pPr indent="0" marL="0">
              <a:buNone/>
            </a:pPr>
            <a:r>
              <a:rPr lang="en-US" sz="1800" b="1" dirty="0">
                <a:solidFill>
                  <a:schemeClr val="tx1"/>
                </a:solidFill>
              </a:rPr>
              <a:t>영역당 1~2분</a:t>
            </a:r>
            <a:endParaRPr lang="en-US" sz="1800" dirty="0"/>
          </a:p>
        </p:txBody>
      </p:sp>
      <p:sp>
        <p:nvSpPr>
          <p:cNvPr id="6" name="Text 3"/>
          <p:cNvSpPr txBox="1"/>
          <p:nvPr/>
        </p:nvSpPr>
        <p:spPr>
          <a:xfrm>
            <a:off x="1280160" y="1609344"/>
            <a:ext cx="3200400" cy="548640"/>
          </a:xfrm>
          <a:prstGeom prst="rect">
            <a:avLst/>
          </a:prstGeom>
          <a:noFill/>
          <a:ln/>
        </p:spPr>
        <p:txBody>
          <a:bodyPr wrap="square" lIns="0" tIns="0" rIns="0" bIns="0" rtlCol="0" anchor="t"/>
          <a:lstStyle/>
          <a:p>
            <a:pPr indent="0" marL="0">
              <a:buNone/>
            </a:pPr>
            <a:r>
              <a:rPr lang="en-US" sz="1400" dirty="0">
                <a:solidFill>
                  <a:schemeClr val="tx2"/>
                </a:solidFill>
              </a:rPr>
              <a:t>한 영역은 길어도 2분 안에 통과</a:t>
            </a:r>
            <a:endParaRPr lang="en-US" sz="1400" dirty="0"/>
          </a:p>
        </p:txBody>
      </p:sp>
      <p:sp>
        <p:nvSpPr>
          <p:cNvPr id="7" name="Icon circle 2"/>
          <p:cNvSpPr/>
          <p:nvPr/>
        </p:nvSpPr>
        <p:spPr>
          <a:xfrm>
            <a:off x="457200" y="2304288"/>
            <a:ext cx="640080" cy="640080"/>
          </a:xfrm>
          <a:prstGeom prst="ellipse">
            <a:avLst/>
          </a:prstGeom>
          <a:solidFill>
            <a:schemeClr val="accent1"/>
          </a:solidFill>
          <a:ln/>
        </p:spPr>
      </p:sp>
      <p:pic>
        <p:nvPicPr>
          <p:cNvPr id="8" name="Icon 2" descr="preencoded.png">    </p:cNvPr>
          <p:cNvPicPr>
            <a:picLocks noChangeAspect="1"/>
          </p:cNvPicPr>
          <p:nvPr/>
        </p:nvPicPr>
        <p:blipFill>
          <a:blip r:embed="rId2"/>
          <a:stretch>
            <a:fillRect/>
          </a:stretch>
        </p:blipFill>
        <p:spPr>
          <a:xfrm>
            <a:off x="603504" y="2450592"/>
            <a:ext cx="347472" cy="347472"/>
          </a:xfrm>
          <a:prstGeom prst="rect">
            <a:avLst/>
          </a:prstGeom>
        </p:spPr>
      </p:pic>
      <p:sp>
        <p:nvSpPr>
          <p:cNvPr id="9" name="Text 5"/>
          <p:cNvSpPr txBox="1"/>
          <p:nvPr/>
        </p:nvSpPr>
        <p:spPr>
          <a:xfrm>
            <a:off x="1280160" y="2286000"/>
            <a:ext cx="3200400" cy="347472"/>
          </a:xfrm>
          <a:prstGeom prst="rect">
            <a:avLst/>
          </a:prstGeom>
          <a:noFill/>
          <a:ln/>
        </p:spPr>
        <p:txBody>
          <a:bodyPr wrap="square" lIns="0" tIns="0" rIns="0" bIns="0" rtlCol="0" anchor="ctr"/>
          <a:lstStyle/>
          <a:p>
            <a:pPr indent="0" marL="0">
              <a:buNone/>
            </a:pPr>
            <a:r>
              <a:rPr lang="en-US" sz="1800" b="1" dirty="0">
                <a:solidFill>
                  <a:schemeClr val="tx1"/>
                </a:solidFill>
              </a:rPr>
              <a:t>가속 버프</a:t>
            </a:r>
            <a:endParaRPr lang="en-US" sz="1800" dirty="0"/>
          </a:p>
        </p:txBody>
      </p:sp>
      <p:sp>
        <p:nvSpPr>
          <p:cNvPr id="10" name="Text 6"/>
          <p:cNvSpPr txBox="1"/>
          <p:nvPr/>
        </p:nvSpPr>
        <p:spPr>
          <a:xfrm>
            <a:off x="1280160" y="2633472"/>
            <a:ext cx="3200400" cy="548640"/>
          </a:xfrm>
          <a:prstGeom prst="rect">
            <a:avLst/>
          </a:prstGeom>
          <a:noFill/>
          <a:ln/>
        </p:spPr>
        <p:txBody>
          <a:bodyPr wrap="square" lIns="0" tIns="0" rIns="0" bIns="0" rtlCol="0" anchor="t"/>
          <a:lstStyle/>
          <a:p>
            <a:pPr indent="0" marL="0">
              <a:buNone/>
            </a:pPr>
            <a:r>
              <a:rPr lang="en-US" sz="1400" dirty="0">
                <a:solidFill>
                  <a:schemeClr val="tx2"/>
                </a:solidFill>
              </a:rPr>
              <a:t>몬스터를 처치하면 가속 아이템 드랍</a:t>
            </a:r>
            <a:endParaRPr lang="en-US" sz="1400" dirty="0"/>
          </a:p>
        </p:txBody>
      </p:sp>
      <p:sp>
        <p:nvSpPr>
          <p:cNvPr id="11" name="Icon circle 3"/>
          <p:cNvSpPr/>
          <p:nvPr/>
        </p:nvSpPr>
        <p:spPr>
          <a:xfrm>
            <a:off x="457200" y="3328416"/>
            <a:ext cx="640080" cy="640080"/>
          </a:xfrm>
          <a:prstGeom prst="ellipse">
            <a:avLst/>
          </a:prstGeom>
          <a:solidFill>
            <a:schemeClr val="accent1"/>
          </a:solidFill>
          <a:ln/>
        </p:spPr>
      </p:sp>
      <p:pic>
        <p:nvPicPr>
          <p:cNvPr id="12" name="Icon 3" descr="preencoded.png">    </p:cNvPr>
          <p:cNvPicPr>
            <a:picLocks noChangeAspect="1"/>
          </p:cNvPicPr>
          <p:nvPr/>
        </p:nvPicPr>
        <p:blipFill>
          <a:blip r:embed="rId3"/>
          <a:stretch>
            <a:fillRect/>
          </a:stretch>
        </p:blipFill>
        <p:spPr>
          <a:xfrm>
            <a:off x="603504" y="3474720"/>
            <a:ext cx="347472" cy="347472"/>
          </a:xfrm>
          <a:prstGeom prst="rect">
            <a:avLst/>
          </a:prstGeom>
        </p:spPr>
      </p:pic>
      <p:sp>
        <p:nvSpPr>
          <p:cNvPr id="13" name="Text 8"/>
          <p:cNvSpPr txBox="1"/>
          <p:nvPr/>
        </p:nvSpPr>
        <p:spPr>
          <a:xfrm>
            <a:off x="1280160" y="3310128"/>
            <a:ext cx="3200400" cy="347472"/>
          </a:xfrm>
          <a:prstGeom prst="rect">
            <a:avLst/>
          </a:prstGeom>
          <a:noFill/>
          <a:ln/>
        </p:spPr>
        <p:txBody>
          <a:bodyPr wrap="square" lIns="0" tIns="0" rIns="0" bIns="0" rtlCol="0" anchor="ctr"/>
          <a:lstStyle/>
          <a:p>
            <a:pPr indent="0" marL="0">
              <a:buNone/>
            </a:pPr>
            <a:r>
              <a:rPr lang="en-US" sz="1800" b="1" dirty="0">
                <a:solidFill>
                  <a:schemeClr val="tx1"/>
                </a:solidFill>
              </a:rPr>
              <a:t>대기 최소화</a:t>
            </a:r>
            <a:endParaRPr lang="en-US" sz="1800" dirty="0"/>
          </a:p>
        </p:txBody>
      </p:sp>
      <p:sp>
        <p:nvSpPr>
          <p:cNvPr id="14" name="Text 9"/>
          <p:cNvSpPr txBox="1"/>
          <p:nvPr/>
        </p:nvSpPr>
        <p:spPr>
          <a:xfrm>
            <a:off x="1280160" y="3657600"/>
            <a:ext cx="3200400" cy="548640"/>
          </a:xfrm>
          <a:prstGeom prst="rect">
            <a:avLst/>
          </a:prstGeom>
          <a:noFill/>
          <a:ln/>
        </p:spPr>
        <p:txBody>
          <a:bodyPr wrap="square" lIns="0" tIns="0" rIns="0" bIns="0" rtlCol="0" anchor="t"/>
          <a:lstStyle/>
          <a:p>
            <a:pPr indent="0" marL="0">
              <a:buNone/>
            </a:pPr>
            <a:r>
              <a:rPr lang="en-US" sz="1400" dirty="0">
                <a:solidFill>
                  <a:schemeClr val="tx2"/>
                </a:solidFill>
              </a:rPr>
              <a:t>기믹에서 멈춰 기다리는 순간 제거 (보스 예외)</a:t>
            </a:r>
            <a:endParaRPr lang="en-US" sz="1400" dirty="0"/>
          </a:p>
        </p:txBody>
      </p:sp>
      <p:pic>
        <p:nvPicPr>
          <p:cNvPr id="15" name="Stage 2 still" descr="C:/Users/MBC-501-21/AppData/Local/Temp/claude/C--Users-MBC-501-21-Documents-FinalProject/2812579a-ecee-485f-bc45-60f1e059f3bb/scratchpad/img/s2.jpg">    </p:cNvPr>
          <p:cNvPicPr>
            <a:picLocks noChangeAspect="1"/>
          </p:cNvPicPr>
          <p:nvPr/>
        </p:nvPicPr>
        <p:blipFill>
          <a:blip r:embed="rId4"/>
          <a:srcRect l="0" r="0" t="0" b="0"/>
          <a:stretch/>
        </p:blipFill>
        <p:spPr>
          <a:xfrm>
            <a:off x="4754880" y="1280160"/>
            <a:ext cx="3931920" cy="2212848"/>
          </a:xfrm>
          <a:prstGeom prst="rect">
            <a:avLst/>
          </a:prstGeom>
        </p:spPr>
      </p:pic>
      <p:sp>
        <p:nvSpPr>
          <p:cNvPr id="16" name="Stat card 1"/>
          <p:cNvSpPr/>
          <p:nvPr/>
        </p:nvSpPr>
        <p:spPr>
          <a:xfrm>
            <a:off x="4754880" y="3703320"/>
            <a:ext cx="1188720" cy="914400"/>
          </a:xfrm>
          <a:prstGeom prst="roundRect">
            <a:avLst>
              <a:gd name="adj" fmla="val 8000"/>
            </a:avLst>
          </a:prstGeom>
          <a:solidFill>
            <a:schemeClr val="bg2"/>
          </a:solidFill>
          <a:ln/>
        </p:spPr>
      </p:sp>
      <p:sp>
        <p:nvSpPr>
          <p:cNvPr id="17" name="Text 11"/>
          <p:cNvSpPr txBox="1"/>
          <p:nvPr/>
        </p:nvSpPr>
        <p:spPr>
          <a:xfrm>
            <a:off x="4754880" y="3749040"/>
            <a:ext cx="1188720" cy="548640"/>
          </a:xfrm>
          <a:prstGeom prst="rect">
            <a:avLst/>
          </a:prstGeom>
          <a:noFill/>
          <a:ln/>
        </p:spPr>
        <p:txBody>
          <a:bodyPr wrap="square" lIns="0" tIns="0" rIns="0" bIns="0" rtlCol="0" anchor="ctr"/>
          <a:lstStyle/>
          <a:p>
            <a:pPr algn="ctr" indent="0" marL="0">
              <a:buNone/>
            </a:pPr>
            <a:r>
              <a:rPr lang="en-US" sz="3600" b="1" dirty="0">
                <a:solidFill>
                  <a:schemeClr val="accent1"/>
                </a:solidFill>
              </a:rPr>
              <a:t>5</a:t>
            </a:r>
            <a:endParaRPr lang="en-US" sz="3600" dirty="0"/>
          </a:p>
        </p:txBody>
      </p:sp>
      <p:sp>
        <p:nvSpPr>
          <p:cNvPr id="18" name="Text 12"/>
          <p:cNvSpPr txBox="1"/>
          <p:nvPr/>
        </p:nvSpPr>
        <p:spPr>
          <a:xfrm>
            <a:off x="4754880" y="4279392"/>
            <a:ext cx="1188720" cy="274320"/>
          </a:xfrm>
          <a:prstGeom prst="rect">
            <a:avLst/>
          </a:prstGeom>
          <a:noFill/>
          <a:ln/>
        </p:spPr>
        <p:txBody>
          <a:bodyPr wrap="square" lIns="0" tIns="0" rIns="0" bIns="0" rtlCol="0" anchor="ctr"/>
          <a:lstStyle/>
          <a:p>
            <a:pPr algn="ctr" indent="0" marL="0">
              <a:buNone/>
            </a:pPr>
            <a:r>
              <a:rPr lang="en-US" sz="1400" dirty="0">
                <a:solidFill>
                  <a:schemeClr val="tx2"/>
                </a:solidFill>
              </a:rPr>
              <a:t>스테이지</a:t>
            </a:r>
            <a:endParaRPr lang="en-US" sz="1400" dirty="0"/>
          </a:p>
        </p:txBody>
      </p:sp>
      <p:sp>
        <p:nvSpPr>
          <p:cNvPr id="19" name="Stat card 2"/>
          <p:cNvSpPr/>
          <p:nvPr/>
        </p:nvSpPr>
        <p:spPr>
          <a:xfrm>
            <a:off x="6126480" y="3703320"/>
            <a:ext cx="1188720" cy="914400"/>
          </a:xfrm>
          <a:prstGeom prst="roundRect">
            <a:avLst>
              <a:gd name="adj" fmla="val 8000"/>
            </a:avLst>
          </a:prstGeom>
          <a:solidFill>
            <a:schemeClr val="bg2"/>
          </a:solidFill>
          <a:ln/>
        </p:spPr>
      </p:sp>
      <p:sp>
        <p:nvSpPr>
          <p:cNvPr id="20" name="Text 14"/>
          <p:cNvSpPr txBox="1"/>
          <p:nvPr/>
        </p:nvSpPr>
        <p:spPr>
          <a:xfrm>
            <a:off x="6126480" y="3749040"/>
            <a:ext cx="1188720" cy="548640"/>
          </a:xfrm>
          <a:prstGeom prst="rect">
            <a:avLst/>
          </a:prstGeom>
          <a:noFill/>
          <a:ln/>
        </p:spPr>
        <p:txBody>
          <a:bodyPr wrap="square" lIns="0" tIns="0" rIns="0" bIns="0" rtlCol="0" anchor="ctr"/>
          <a:lstStyle/>
          <a:p>
            <a:pPr algn="ctr" indent="0" marL="0">
              <a:buNone/>
            </a:pPr>
            <a:r>
              <a:rPr lang="en-US" sz="3600" b="1" dirty="0">
                <a:solidFill>
                  <a:schemeClr val="accent1"/>
                </a:solidFill>
              </a:rPr>
              <a:t>25</a:t>
            </a:r>
            <a:endParaRPr lang="en-US" sz="3600" dirty="0"/>
          </a:p>
        </p:txBody>
      </p:sp>
      <p:sp>
        <p:nvSpPr>
          <p:cNvPr id="21" name="Text 15"/>
          <p:cNvSpPr txBox="1"/>
          <p:nvPr/>
        </p:nvSpPr>
        <p:spPr>
          <a:xfrm>
            <a:off x="6126480" y="4279392"/>
            <a:ext cx="1188720" cy="274320"/>
          </a:xfrm>
          <a:prstGeom prst="rect">
            <a:avLst/>
          </a:prstGeom>
          <a:noFill/>
          <a:ln/>
        </p:spPr>
        <p:txBody>
          <a:bodyPr wrap="square" lIns="0" tIns="0" rIns="0" bIns="0" rtlCol="0" anchor="ctr"/>
          <a:lstStyle/>
          <a:p>
            <a:pPr algn="ctr" indent="0" marL="0">
              <a:buNone/>
            </a:pPr>
            <a:r>
              <a:rPr lang="en-US" sz="1400" dirty="0">
                <a:solidFill>
                  <a:schemeClr val="tx2"/>
                </a:solidFill>
              </a:rPr>
              <a:t>영역</a:t>
            </a:r>
            <a:endParaRPr lang="en-US" sz="1400" dirty="0"/>
          </a:p>
        </p:txBody>
      </p:sp>
      <p:sp>
        <p:nvSpPr>
          <p:cNvPr id="22" name="Stat card 3"/>
          <p:cNvSpPr/>
          <p:nvPr/>
        </p:nvSpPr>
        <p:spPr>
          <a:xfrm>
            <a:off x="7498080" y="3703320"/>
            <a:ext cx="1188720" cy="914400"/>
          </a:xfrm>
          <a:prstGeom prst="roundRect">
            <a:avLst>
              <a:gd name="adj" fmla="val 8000"/>
            </a:avLst>
          </a:prstGeom>
          <a:solidFill>
            <a:schemeClr val="bg2"/>
          </a:solidFill>
          <a:ln/>
        </p:spPr>
      </p:sp>
      <p:sp>
        <p:nvSpPr>
          <p:cNvPr id="23" name="Text 17"/>
          <p:cNvSpPr txBox="1"/>
          <p:nvPr/>
        </p:nvSpPr>
        <p:spPr>
          <a:xfrm>
            <a:off x="7498080" y="3749040"/>
            <a:ext cx="1188720" cy="548640"/>
          </a:xfrm>
          <a:prstGeom prst="rect">
            <a:avLst/>
          </a:prstGeom>
          <a:noFill/>
          <a:ln/>
        </p:spPr>
        <p:txBody>
          <a:bodyPr wrap="square" lIns="0" tIns="0" rIns="0" bIns="0" rtlCol="0" anchor="ctr"/>
          <a:lstStyle/>
          <a:p>
            <a:pPr algn="ctr" indent="0" marL="0">
              <a:buNone/>
            </a:pPr>
            <a:r>
              <a:rPr lang="en-US" sz="3600" b="1" dirty="0">
                <a:solidFill>
                  <a:schemeClr val="accent1"/>
                </a:solidFill>
              </a:rPr>
              <a:t>5</a:t>
            </a:r>
            <a:endParaRPr lang="en-US" sz="3600" dirty="0"/>
          </a:p>
        </p:txBody>
      </p:sp>
      <p:sp>
        <p:nvSpPr>
          <p:cNvPr id="24" name="Text 18"/>
          <p:cNvSpPr txBox="1"/>
          <p:nvPr/>
        </p:nvSpPr>
        <p:spPr>
          <a:xfrm>
            <a:off x="7498080" y="4279392"/>
            <a:ext cx="1188720" cy="274320"/>
          </a:xfrm>
          <a:prstGeom prst="rect">
            <a:avLst/>
          </a:prstGeom>
          <a:noFill/>
          <a:ln/>
        </p:spPr>
        <p:txBody>
          <a:bodyPr wrap="square" lIns="0" tIns="0" rIns="0" bIns="0" rtlCol="0" anchor="ctr"/>
          <a:lstStyle/>
          <a:p>
            <a:pPr algn="ctr" indent="0" marL="0">
              <a:buNone/>
            </a:pPr>
            <a:r>
              <a:rPr lang="en-US" sz="1400" dirty="0">
                <a:solidFill>
                  <a:schemeClr val="tx2"/>
                </a:solidFill>
              </a:rPr>
              <a:t>보스</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제작 과정: 다섯 단계의 반복</a:t>
            </a:r>
            <a:endParaRPr lang="en-US" sz="3200" dirty="0"/>
          </a:p>
        </p:txBody>
      </p:sp>
      <p:sp>
        <p:nvSpPr>
          <p:cNvPr id="3" name="Step card 1"/>
          <p:cNvSpPr/>
          <p:nvPr/>
        </p:nvSpPr>
        <p:spPr>
          <a:xfrm>
            <a:off x="457200" y="1280160"/>
            <a:ext cx="1463040" cy="2240280"/>
          </a:xfrm>
          <a:prstGeom prst="roundRect">
            <a:avLst>
              <a:gd name="adj" fmla="val 5000"/>
            </a:avLst>
          </a:prstGeom>
          <a:solidFill>
            <a:schemeClr val="bg2"/>
          </a:solidFill>
          <a:ln/>
        </p:spPr>
      </p:sp>
      <p:sp>
        <p:nvSpPr>
          <p:cNvPr id="4" name="Step icon circle 1"/>
          <p:cNvSpPr/>
          <p:nvPr/>
        </p:nvSpPr>
        <p:spPr>
          <a:xfrm>
            <a:off x="594360" y="1417320"/>
            <a:ext cx="548640" cy="548640"/>
          </a:xfrm>
          <a:prstGeom prst="ellipse">
            <a:avLst/>
          </a:prstGeom>
          <a:solidFill>
            <a:schemeClr val="accent1"/>
          </a:solidFill>
          <a:ln/>
        </p:spPr>
      </p:sp>
      <p:pic>
        <p:nvPicPr>
          <p:cNvPr id="5" name="Step icon 1" descr="preencoded.png">    </p:cNvPr>
          <p:cNvPicPr>
            <a:picLocks noChangeAspect="1"/>
          </p:cNvPicPr>
          <p:nvPr/>
        </p:nvPicPr>
        <p:blipFill>
          <a:blip r:embed="rId1"/>
          <a:stretch>
            <a:fillRect/>
          </a:stretch>
        </p:blipFill>
        <p:spPr>
          <a:xfrm>
            <a:off x="722376" y="1545336"/>
            <a:ext cx="292608" cy="292608"/>
          </a:xfrm>
          <a:prstGeom prst="rect">
            <a:avLst/>
          </a:prstGeom>
        </p:spPr>
      </p:pic>
      <p:sp>
        <p:nvSpPr>
          <p:cNvPr id="6" name="Text 3"/>
          <p:cNvSpPr txBox="1"/>
          <p:nvPr/>
        </p:nvSpPr>
        <p:spPr>
          <a:xfrm>
            <a:off x="548640" y="2103120"/>
            <a:ext cx="1325880" cy="320040"/>
          </a:xfrm>
          <a:prstGeom prst="rect">
            <a:avLst/>
          </a:prstGeom>
          <a:noFill/>
          <a:ln/>
        </p:spPr>
        <p:txBody>
          <a:bodyPr wrap="square" lIns="0" tIns="0" rIns="0" bIns="0" rtlCol="0" anchor="ctr"/>
          <a:lstStyle/>
          <a:p>
            <a:pPr indent="0" marL="0">
              <a:buNone/>
            </a:pPr>
            <a:r>
              <a:rPr lang="en-US" sz="1400" b="1" dirty="0">
                <a:solidFill>
                  <a:schemeClr val="tx1"/>
                </a:solidFill>
              </a:rPr>
              <a:t>01 기획·수칙</a:t>
            </a:r>
            <a:endParaRPr lang="en-US" sz="1400" dirty="0"/>
          </a:p>
        </p:txBody>
      </p:sp>
      <p:sp>
        <p:nvSpPr>
          <p:cNvPr id="7" name="Text 4"/>
          <p:cNvSpPr txBox="1"/>
          <p:nvPr/>
        </p:nvSpPr>
        <p:spPr>
          <a:xfrm>
            <a:off x="548640" y="2468880"/>
            <a:ext cx="1325880" cy="1188720"/>
          </a:xfrm>
          <a:prstGeom prst="rect">
            <a:avLst/>
          </a:prstGeom>
          <a:noFill/>
          <a:ln/>
        </p:spPr>
        <p:txBody>
          <a:bodyPr wrap="square" lIns="0" tIns="0" rIns="0" bIns="0" rtlCol="0" anchor="t"/>
          <a:lstStyle/>
          <a:p>
            <a:pPr indent="0" marL="0">
              <a:buNone/>
            </a:pPr>
            <a:r>
              <a:rPr lang="en-US" sz="1400" dirty="0">
                <a:solidFill>
                  <a:schemeClr val="tx2"/>
                </a:solidFill>
              </a:rPr>
              <a:t>컨셉 확정, 작업 수칙을 문서로 고정</a:t>
            </a:r>
            <a:endParaRPr lang="en-US" sz="1400" dirty="0"/>
          </a:p>
        </p:txBody>
      </p:sp>
      <p:sp>
        <p:nvSpPr>
          <p:cNvPr id="8" name="Step card 2"/>
          <p:cNvSpPr/>
          <p:nvPr/>
        </p:nvSpPr>
        <p:spPr>
          <a:xfrm>
            <a:off x="2148840" y="1280160"/>
            <a:ext cx="1463040" cy="2240280"/>
          </a:xfrm>
          <a:prstGeom prst="roundRect">
            <a:avLst>
              <a:gd name="adj" fmla="val 5000"/>
            </a:avLst>
          </a:prstGeom>
          <a:solidFill>
            <a:schemeClr val="bg2"/>
          </a:solidFill>
          <a:ln/>
        </p:spPr>
      </p:sp>
      <p:sp>
        <p:nvSpPr>
          <p:cNvPr id="9" name="Step icon circle 2"/>
          <p:cNvSpPr/>
          <p:nvPr/>
        </p:nvSpPr>
        <p:spPr>
          <a:xfrm>
            <a:off x="2286000" y="1417320"/>
            <a:ext cx="548640" cy="548640"/>
          </a:xfrm>
          <a:prstGeom prst="ellipse">
            <a:avLst/>
          </a:prstGeom>
          <a:solidFill>
            <a:schemeClr val="accent1"/>
          </a:solidFill>
          <a:ln/>
        </p:spPr>
      </p:sp>
      <p:pic>
        <p:nvPicPr>
          <p:cNvPr id="10" name="Step icon 2" descr="preencoded.png">    </p:cNvPr>
          <p:cNvPicPr>
            <a:picLocks noChangeAspect="1"/>
          </p:cNvPicPr>
          <p:nvPr/>
        </p:nvPicPr>
        <p:blipFill>
          <a:blip r:embed="rId2"/>
          <a:stretch>
            <a:fillRect/>
          </a:stretch>
        </p:blipFill>
        <p:spPr>
          <a:xfrm>
            <a:off x="2414016" y="1545336"/>
            <a:ext cx="292608" cy="292608"/>
          </a:xfrm>
          <a:prstGeom prst="rect">
            <a:avLst/>
          </a:prstGeom>
        </p:spPr>
      </p:pic>
      <p:sp>
        <p:nvSpPr>
          <p:cNvPr id="11" name="Text 7"/>
          <p:cNvSpPr txBox="1"/>
          <p:nvPr/>
        </p:nvSpPr>
        <p:spPr>
          <a:xfrm>
            <a:off x="2240280" y="2103120"/>
            <a:ext cx="1325880" cy="320040"/>
          </a:xfrm>
          <a:prstGeom prst="rect">
            <a:avLst/>
          </a:prstGeom>
          <a:noFill/>
          <a:ln/>
        </p:spPr>
        <p:txBody>
          <a:bodyPr wrap="square" lIns="0" tIns="0" rIns="0" bIns="0" rtlCol="0" anchor="ctr"/>
          <a:lstStyle/>
          <a:p>
            <a:pPr indent="0" marL="0">
              <a:buNone/>
            </a:pPr>
            <a:r>
              <a:rPr lang="en-US" sz="1400" b="1" dirty="0">
                <a:solidFill>
                  <a:schemeClr val="tx1"/>
                </a:solidFill>
              </a:rPr>
              <a:t>02 에셋</a:t>
            </a:r>
            <a:endParaRPr lang="en-US" sz="1400" dirty="0"/>
          </a:p>
        </p:txBody>
      </p:sp>
      <p:sp>
        <p:nvSpPr>
          <p:cNvPr id="12" name="Text 8"/>
          <p:cNvSpPr txBox="1"/>
          <p:nvPr/>
        </p:nvSpPr>
        <p:spPr>
          <a:xfrm>
            <a:off x="2240280" y="2468880"/>
            <a:ext cx="1325880" cy="1188720"/>
          </a:xfrm>
          <a:prstGeom prst="rect">
            <a:avLst/>
          </a:prstGeom>
          <a:noFill/>
          <a:ln/>
        </p:spPr>
        <p:txBody>
          <a:bodyPr wrap="square" lIns="0" tIns="0" rIns="0" bIns="0" rtlCol="0" anchor="t"/>
          <a:lstStyle/>
          <a:p>
            <a:pPr indent="0" marL="0">
              <a:buNone/>
            </a:pPr>
            <a:r>
              <a:rPr lang="en-US" sz="1400" dirty="0">
                <a:solidFill>
                  <a:schemeClr val="tx2"/>
                </a:solidFill>
              </a:rPr>
              <a:t>AI로 캐릭터·배경·보스 이미지 생성</a:t>
            </a:r>
            <a:endParaRPr lang="en-US" sz="1400" dirty="0"/>
          </a:p>
        </p:txBody>
      </p:sp>
      <p:sp>
        <p:nvSpPr>
          <p:cNvPr id="13" name="Step card 3"/>
          <p:cNvSpPr/>
          <p:nvPr/>
        </p:nvSpPr>
        <p:spPr>
          <a:xfrm>
            <a:off x="3840480" y="1280160"/>
            <a:ext cx="1463040" cy="2240280"/>
          </a:xfrm>
          <a:prstGeom prst="roundRect">
            <a:avLst>
              <a:gd name="adj" fmla="val 5000"/>
            </a:avLst>
          </a:prstGeom>
          <a:solidFill>
            <a:schemeClr val="bg2"/>
          </a:solidFill>
          <a:ln/>
        </p:spPr>
      </p:sp>
      <p:sp>
        <p:nvSpPr>
          <p:cNvPr id="14" name="Step icon circle 3"/>
          <p:cNvSpPr/>
          <p:nvPr/>
        </p:nvSpPr>
        <p:spPr>
          <a:xfrm>
            <a:off x="3977640" y="1417320"/>
            <a:ext cx="548640" cy="548640"/>
          </a:xfrm>
          <a:prstGeom prst="ellipse">
            <a:avLst/>
          </a:prstGeom>
          <a:solidFill>
            <a:schemeClr val="accent1"/>
          </a:solidFill>
          <a:ln/>
        </p:spPr>
      </p:sp>
      <p:pic>
        <p:nvPicPr>
          <p:cNvPr id="15" name="Step icon 3" descr="preencoded.png">    </p:cNvPr>
          <p:cNvPicPr>
            <a:picLocks noChangeAspect="1"/>
          </p:cNvPicPr>
          <p:nvPr/>
        </p:nvPicPr>
        <p:blipFill>
          <a:blip r:embed="rId3"/>
          <a:stretch>
            <a:fillRect/>
          </a:stretch>
        </p:blipFill>
        <p:spPr>
          <a:xfrm>
            <a:off x="4105656" y="1545336"/>
            <a:ext cx="292608" cy="292608"/>
          </a:xfrm>
          <a:prstGeom prst="rect">
            <a:avLst/>
          </a:prstGeom>
        </p:spPr>
      </p:pic>
      <p:sp>
        <p:nvSpPr>
          <p:cNvPr id="16" name="Text 11"/>
          <p:cNvSpPr txBox="1"/>
          <p:nvPr/>
        </p:nvSpPr>
        <p:spPr>
          <a:xfrm>
            <a:off x="3931920" y="2103120"/>
            <a:ext cx="1325880" cy="320040"/>
          </a:xfrm>
          <a:prstGeom prst="rect">
            <a:avLst/>
          </a:prstGeom>
          <a:noFill/>
          <a:ln/>
        </p:spPr>
        <p:txBody>
          <a:bodyPr wrap="square" lIns="0" tIns="0" rIns="0" bIns="0" rtlCol="0" anchor="ctr"/>
          <a:lstStyle/>
          <a:p>
            <a:pPr indent="0" marL="0">
              <a:buNone/>
            </a:pPr>
            <a:r>
              <a:rPr lang="en-US" sz="1400" b="1" dirty="0">
                <a:solidFill>
                  <a:schemeClr val="tx1"/>
                </a:solidFill>
              </a:rPr>
              <a:t>03 맵 설계</a:t>
            </a:r>
            <a:endParaRPr lang="en-US" sz="1400" dirty="0"/>
          </a:p>
        </p:txBody>
      </p:sp>
      <p:sp>
        <p:nvSpPr>
          <p:cNvPr id="17" name="Text 12"/>
          <p:cNvSpPr txBox="1"/>
          <p:nvPr/>
        </p:nvSpPr>
        <p:spPr>
          <a:xfrm>
            <a:off x="3931920" y="2468880"/>
            <a:ext cx="1325880" cy="1188720"/>
          </a:xfrm>
          <a:prstGeom prst="rect">
            <a:avLst/>
          </a:prstGeom>
          <a:noFill/>
          <a:ln/>
        </p:spPr>
        <p:txBody>
          <a:bodyPr wrap="square" lIns="0" tIns="0" rIns="0" bIns="0" rtlCol="0" anchor="t"/>
          <a:lstStyle/>
          <a:p>
            <a:pPr indent="0" marL="0">
              <a:buNone/>
            </a:pPr>
            <a:r>
              <a:rPr lang="en-US" sz="1400" dirty="0">
                <a:solidFill>
                  <a:schemeClr val="tx2"/>
                </a:solidFill>
              </a:rPr>
              <a:t>코드·문서로 먼저 설계</a:t>
            </a:r>
            <a:endParaRPr lang="en-US" sz="1400" dirty="0"/>
          </a:p>
        </p:txBody>
      </p:sp>
      <p:sp>
        <p:nvSpPr>
          <p:cNvPr id="18" name="Step card 4"/>
          <p:cNvSpPr/>
          <p:nvPr/>
        </p:nvSpPr>
        <p:spPr>
          <a:xfrm>
            <a:off x="5532120" y="1280160"/>
            <a:ext cx="1463040" cy="2240280"/>
          </a:xfrm>
          <a:prstGeom prst="roundRect">
            <a:avLst>
              <a:gd name="adj" fmla="val 5000"/>
            </a:avLst>
          </a:prstGeom>
          <a:solidFill>
            <a:schemeClr val="bg2"/>
          </a:solidFill>
          <a:ln/>
        </p:spPr>
      </p:sp>
      <p:sp>
        <p:nvSpPr>
          <p:cNvPr id="19" name="Step icon circle 4"/>
          <p:cNvSpPr/>
          <p:nvPr/>
        </p:nvSpPr>
        <p:spPr>
          <a:xfrm>
            <a:off x="5669280" y="1417320"/>
            <a:ext cx="548640" cy="548640"/>
          </a:xfrm>
          <a:prstGeom prst="ellipse">
            <a:avLst/>
          </a:prstGeom>
          <a:solidFill>
            <a:schemeClr val="accent1"/>
          </a:solidFill>
          <a:ln/>
        </p:spPr>
      </p:sp>
      <p:pic>
        <p:nvPicPr>
          <p:cNvPr id="20" name="Step icon 4" descr="preencoded.png">    </p:cNvPr>
          <p:cNvPicPr>
            <a:picLocks noChangeAspect="1"/>
          </p:cNvPicPr>
          <p:nvPr/>
        </p:nvPicPr>
        <p:blipFill>
          <a:blip r:embed="rId4"/>
          <a:stretch>
            <a:fillRect/>
          </a:stretch>
        </p:blipFill>
        <p:spPr>
          <a:xfrm>
            <a:off x="5797296" y="1545336"/>
            <a:ext cx="292608" cy="292608"/>
          </a:xfrm>
          <a:prstGeom prst="rect">
            <a:avLst/>
          </a:prstGeom>
        </p:spPr>
      </p:pic>
      <p:sp>
        <p:nvSpPr>
          <p:cNvPr id="21" name="Text 15"/>
          <p:cNvSpPr txBox="1"/>
          <p:nvPr/>
        </p:nvSpPr>
        <p:spPr>
          <a:xfrm>
            <a:off x="5623560" y="2103120"/>
            <a:ext cx="1325880" cy="320040"/>
          </a:xfrm>
          <a:prstGeom prst="rect">
            <a:avLst/>
          </a:prstGeom>
          <a:noFill/>
          <a:ln/>
        </p:spPr>
        <p:txBody>
          <a:bodyPr wrap="square" lIns="0" tIns="0" rIns="0" bIns="0" rtlCol="0" anchor="ctr"/>
          <a:lstStyle/>
          <a:p>
            <a:pPr indent="0" marL="0">
              <a:buNone/>
            </a:pPr>
            <a:r>
              <a:rPr lang="en-US" sz="1400" b="1" dirty="0">
                <a:solidFill>
                  <a:schemeClr val="tx1"/>
                </a:solidFill>
              </a:rPr>
              <a:t>04 Unity 구현</a:t>
            </a:r>
            <a:endParaRPr lang="en-US" sz="1400" dirty="0"/>
          </a:p>
        </p:txBody>
      </p:sp>
      <p:sp>
        <p:nvSpPr>
          <p:cNvPr id="22" name="Text 16"/>
          <p:cNvSpPr txBox="1"/>
          <p:nvPr/>
        </p:nvSpPr>
        <p:spPr>
          <a:xfrm>
            <a:off x="5623560" y="2468880"/>
            <a:ext cx="1325880" cy="1188720"/>
          </a:xfrm>
          <a:prstGeom prst="rect">
            <a:avLst/>
          </a:prstGeom>
          <a:noFill/>
          <a:ln/>
        </p:spPr>
        <p:txBody>
          <a:bodyPr wrap="square" lIns="0" tIns="0" rIns="0" bIns="0" rtlCol="0" anchor="t"/>
          <a:lstStyle/>
          <a:p>
            <a:pPr indent="0" marL="0">
              <a:buNone/>
            </a:pPr>
            <a:r>
              <a:rPr lang="en-US" sz="1400" dirty="0">
                <a:solidFill>
                  <a:schemeClr val="tx2"/>
                </a:solidFill>
              </a:rPr>
              <a:t>승인 후 씬에 배치</a:t>
            </a:r>
            <a:endParaRPr lang="en-US" sz="1400" dirty="0"/>
          </a:p>
        </p:txBody>
      </p:sp>
      <p:sp>
        <p:nvSpPr>
          <p:cNvPr id="23" name="Step card 5"/>
          <p:cNvSpPr/>
          <p:nvPr/>
        </p:nvSpPr>
        <p:spPr>
          <a:xfrm>
            <a:off x="7223760" y="1280160"/>
            <a:ext cx="1463040" cy="2240280"/>
          </a:xfrm>
          <a:prstGeom prst="roundRect">
            <a:avLst>
              <a:gd name="adj" fmla="val 5000"/>
            </a:avLst>
          </a:prstGeom>
          <a:solidFill>
            <a:schemeClr val="bg2"/>
          </a:solidFill>
          <a:ln/>
        </p:spPr>
      </p:sp>
      <p:sp>
        <p:nvSpPr>
          <p:cNvPr id="24" name="Step icon circle 5"/>
          <p:cNvSpPr/>
          <p:nvPr/>
        </p:nvSpPr>
        <p:spPr>
          <a:xfrm>
            <a:off x="7360920" y="1417320"/>
            <a:ext cx="548640" cy="548640"/>
          </a:xfrm>
          <a:prstGeom prst="ellipse">
            <a:avLst/>
          </a:prstGeom>
          <a:solidFill>
            <a:schemeClr val="accent1"/>
          </a:solidFill>
          <a:ln/>
        </p:spPr>
      </p:sp>
      <p:pic>
        <p:nvPicPr>
          <p:cNvPr id="25" name="Step icon 5" descr="preencoded.png">    </p:cNvPr>
          <p:cNvPicPr>
            <a:picLocks noChangeAspect="1"/>
          </p:cNvPicPr>
          <p:nvPr/>
        </p:nvPicPr>
        <p:blipFill>
          <a:blip r:embed="rId5"/>
          <a:stretch>
            <a:fillRect/>
          </a:stretch>
        </p:blipFill>
        <p:spPr>
          <a:xfrm>
            <a:off x="7488936" y="1545336"/>
            <a:ext cx="292608" cy="292608"/>
          </a:xfrm>
          <a:prstGeom prst="rect">
            <a:avLst/>
          </a:prstGeom>
        </p:spPr>
      </p:pic>
      <p:sp>
        <p:nvSpPr>
          <p:cNvPr id="26" name="Text 19"/>
          <p:cNvSpPr txBox="1"/>
          <p:nvPr/>
        </p:nvSpPr>
        <p:spPr>
          <a:xfrm>
            <a:off x="7315200" y="2103120"/>
            <a:ext cx="1325880" cy="320040"/>
          </a:xfrm>
          <a:prstGeom prst="rect">
            <a:avLst/>
          </a:prstGeom>
          <a:noFill/>
          <a:ln/>
        </p:spPr>
        <p:txBody>
          <a:bodyPr wrap="square" lIns="0" tIns="0" rIns="0" bIns="0" rtlCol="0" anchor="ctr"/>
          <a:lstStyle/>
          <a:p>
            <a:pPr indent="0" marL="0">
              <a:buNone/>
            </a:pPr>
            <a:r>
              <a:rPr lang="en-US" sz="1400" b="1" dirty="0">
                <a:solidFill>
                  <a:schemeClr val="tx1"/>
                </a:solidFill>
              </a:rPr>
              <a:t>05 검수·보강</a:t>
            </a:r>
            <a:endParaRPr lang="en-US" sz="1400" dirty="0"/>
          </a:p>
        </p:txBody>
      </p:sp>
      <p:sp>
        <p:nvSpPr>
          <p:cNvPr id="27" name="Text 20"/>
          <p:cNvSpPr txBox="1"/>
          <p:nvPr/>
        </p:nvSpPr>
        <p:spPr>
          <a:xfrm>
            <a:off x="7315200" y="2468880"/>
            <a:ext cx="1325880" cy="1188720"/>
          </a:xfrm>
          <a:prstGeom prst="rect">
            <a:avLst/>
          </a:prstGeom>
          <a:noFill/>
          <a:ln/>
        </p:spPr>
        <p:txBody>
          <a:bodyPr wrap="square" lIns="0" tIns="0" rIns="0" bIns="0" rtlCol="0" anchor="t"/>
          <a:lstStyle/>
          <a:p>
            <a:pPr indent="0" marL="0">
              <a:buNone/>
            </a:pPr>
            <a:r>
              <a:rPr lang="en-US" sz="1400" dirty="0">
                <a:solidFill>
                  <a:schemeClr val="tx2"/>
                </a:solidFill>
              </a:rPr>
              <a:t>시뮬레이션 검수, 버그 수정</a:t>
            </a:r>
            <a:endParaRPr lang="en-US" sz="1400" dirty="0"/>
          </a:p>
        </p:txBody>
      </p:sp>
      <p:sp>
        <p:nvSpPr>
          <p:cNvPr id="28" name="Timeline summary"/>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2000" dirty="0">
                <a:solidFill>
                  <a:schemeClr val="tx1"/>
                </a:solidFill>
              </a:rPr>
              <a:t>2026.09.15 시작 → 10.19 현재  </a:t>
            </a:r>
            <a:pPr indent="0" marL="0">
              <a:buNone/>
            </a:pPr>
            <a:r>
              <a:rPr lang="en-US" sz="2000" b="1" dirty="0">
                <a:solidFill>
                  <a:schemeClr val="accent1"/>
                </a:solidFill>
              </a:rPr>
              <a:t>약 5주 · 커밋 38회 · 씬 8개</a:t>
            </a:r>
            <a:endParaRPr lang="en-US" sz="2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다섯 개의 세계, 스테이지 1~5</a:t>
            </a:r>
            <a:endParaRPr lang="en-US" sz="3200" dirty="0"/>
          </a:p>
        </p:txBody>
      </p:sp>
      <p:pic>
        <p:nvPicPr>
          <p:cNvPr id="3" name="Stage 1 still" descr="C:/Users/MBC-501-21/AppData/Local/Temp/claude/C--Users-MBC-501-21-Documents-FinalProject/2812579a-ecee-485f-bc45-60f1e059f3bb/scratchpad/img/c1.jpg">    </p:cNvPr>
          <p:cNvPicPr>
            <a:picLocks noChangeAspect="1"/>
          </p:cNvPicPr>
          <p:nvPr/>
        </p:nvPicPr>
        <p:blipFill>
          <a:blip r:embed="rId1"/>
          <a:stretch>
            <a:fillRect/>
          </a:stretch>
        </p:blipFill>
        <p:spPr>
          <a:xfrm>
            <a:off x="457200" y="1234440"/>
            <a:ext cx="1463040" cy="1828800"/>
          </a:xfrm>
          <a:prstGeom prst="rect">
            <a:avLst/>
          </a:prstGeom>
        </p:spPr>
      </p:pic>
      <p:sp>
        <p:nvSpPr>
          <p:cNvPr id="4" name="Text 1"/>
          <p:cNvSpPr txBox="1"/>
          <p:nvPr/>
        </p:nvSpPr>
        <p:spPr>
          <a:xfrm>
            <a:off x="457200" y="3154680"/>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1 숲</a:t>
            </a:r>
            <a:endParaRPr lang="en-US" sz="1500" dirty="0"/>
          </a:p>
        </p:txBody>
      </p:sp>
      <p:sp>
        <p:nvSpPr>
          <p:cNvPr id="5" name="Text 2"/>
          <p:cNvSpPr txBox="1"/>
          <p:nvPr/>
        </p:nvSpPr>
        <p:spPr>
          <a:xfrm>
            <a:off x="457200" y="3474720"/>
            <a:ext cx="1463040" cy="457200"/>
          </a:xfrm>
          <a:prstGeom prst="rect">
            <a:avLst/>
          </a:prstGeom>
          <a:noFill/>
          <a:ln/>
        </p:spPr>
        <p:txBody>
          <a:bodyPr wrap="square" lIns="0" tIns="0" rIns="0" bIns="0" rtlCol="0" anchor="t"/>
          <a:lstStyle/>
          <a:p>
            <a:pPr indent="0" marL="0">
              <a:buNone/>
            </a:pPr>
            <a:r>
              <a:rPr lang="en-US" sz="1200" dirty="0">
                <a:solidFill>
                  <a:schemeClr val="accent3"/>
                </a:solidFill>
              </a:rPr>
              <a:t>보스 트렌트</a:t>
            </a:r>
            <a:endParaRPr lang="en-US" sz="1200" dirty="0"/>
          </a:p>
        </p:txBody>
      </p:sp>
      <p:pic>
        <p:nvPicPr>
          <p:cNvPr id="6" name="Stage 2 still" descr="C:/Users/MBC-501-21/AppData/Local/Temp/claude/C--Users-MBC-501-21-Documents-FinalProject/2812579a-ecee-485f-bc45-60f1e059f3bb/scratchpad/img/c2.jpg">    </p:cNvPr>
          <p:cNvPicPr>
            <a:picLocks noChangeAspect="1"/>
          </p:cNvPicPr>
          <p:nvPr/>
        </p:nvPicPr>
        <p:blipFill>
          <a:blip r:embed="rId2"/>
          <a:stretch>
            <a:fillRect/>
          </a:stretch>
        </p:blipFill>
        <p:spPr>
          <a:xfrm>
            <a:off x="2148840" y="1234440"/>
            <a:ext cx="1463040" cy="1828800"/>
          </a:xfrm>
          <a:prstGeom prst="rect">
            <a:avLst/>
          </a:prstGeom>
        </p:spPr>
      </p:pic>
      <p:sp>
        <p:nvSpPr>
          <p:cNvPr id="7" name="Text 3"/>
          <p:cNvSpPr txBox="1"/>
          <p:nvPr/>
        </p:nvSpPr>
        <p:spPr>
          <a:xfrm>
            <a:off x="2148840" y="3154680"/>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2 숲→동굴</a:t>
            </a:r>
            <a:endParaRPr lang="en-US" sz="1500" dirty="0"/>
          </a:p>
        </p:txBody>
      </p:sp>
      <p:sp>
        <p:nvSpPr>
          <p:cNvPr id="8" name="Text 4"/>
          <p:cNvSpPr txBox="1"/>
          <p:nvPr/>
        </p:nvSpPr>
        <p:spPr>
          <a:xfrm>
            <a:off x="2148840" y="3474720"/>
            <a:ext cx="1463040" cy="457200"/>
          </a:xfrm>
          <a:prstGeom prst="rect">
            <a:avLst/>
          </a:prstGeom>
          <a:noFill/>
          <a:ln/>
        </p:spPr>
        <p:txBody>
          <a:bodyPr wrap="square" lIns="0" tIns="0" rIns="0" bIns="0" rtlCol="0" anchor="t"/>
          <a:lstStyle/>
          <a:p>
            <a:pPr indent="0" marL="0">
              <a:buNone/>
            </a:pPr>
            <a:r>
              <a:rPr lang="en-US" sz="1200" dirty="0">
                <a:solidFill>
                  <a:schemeClr val="accent3"/>
                </a:solidFill>
              </a:rPr>
              <a:t>보스 돌뱀</a:t>
            </a:r>
            <a:endParaRPr lang="en-US" sz="1200" dirty="0"/>
          </a:p>
        </p:txBody>
      </p:sp>
      <p:pic>
        <p:nvPicPr>
          <p:cNvPr id="9" name="Stage 3 still" descr="C:/Users/MBC-501-21/AppData/Local/Temp/claude/C--Users-MBC-501-21-Documents-FinalProject/2812579a-ecee-485f-bc45-60f1e059f3bb/scratchpad/img/c3.jpg">    </p:cNvPr>
          <p:cNvPicPr>
            <a:picLocks noChangeAspect="1"/>
          </p:cNvPicPr>
          <p:nvPr/>
        </p:nvPicPr>
        <p:blipFill>
          <a:blip r:embed="rId3"/>
          <a:stretch>
            <a:fillRect/>
          </a:stretch>
        </p:blipFill>
        <p:spPr>
          <a:xfrm>
            <a:off x="3840480" y="1234440"/>
            <a:ext cx="1463040" cy="1828800"/>
          </a:xfrm>
          <a:prstGeom prst="rect">
            <a:avLst/>
          </a:prstGeom>
        </p:spPr>
      </p:pic>
      <p:sp>
        <p:nvSpPr>
          <p:cNvPr id="10" name="Text 5"/>
          <p:cNvSpPr txBox="1"/>
          <p:nvPr/>
        </p:nvSpPr>
        <p:spPr>
          <a:xfrm>
            <a:off x="3840480" y="3154680"/>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3 용암 갱도</a:t>
            </a:r>
            <a:endParaRPr lang="en-US" sz="1500" dirty="0"/>
          </a:p>
        </p:txBody>
      </p:sp>
      <p:sp>
        <p:nvSpPr>
          <p:cNvPr id="11" name="Text 6"/>
          <p:cNvSpPr txBox="1"/>
          <p:nvPr/>
        </p:nvSpPr>
        <p:spPr>
          <a:xfrm>
            <a:off x="3840480" y="3474720"/>
            <a:ext cx="1463040" cy="457200"/>
          </a:xfrm>
          <a:prstGeom prst="rect">
            <a:avLst/>
          </a:prstGeom>
          <a:noFill/>
          <a:ln/>
        </p:spPr>
        <p:txBody>
          <a:bodyPr wrap="square" lIns="0" tIns="0" rIns="0" bIns="0" rtlCol="0" anchor="t"/>
          <a:lstStyle/>
          <a:p>
            <a:pPr indent="0" marL="0">
              <a:buNone/>
            </a:pPr>
            <a:r>
              <a:rPr lang="en-US" sz="1200" dirty="0">
                <a:solidFill>
                  <a:schemeClr val="accent3"/>
                </a:solidFill>
              </a:rPr>
              <a:t>보스 화산 전갈</a:t>
            </a:r>
            <a:endParaRPr lang="en-US" sz="1200" dirty="0"/>
          </a:p>
        </p:txBody>
      </p:sp>
      <p:pic>
        <p:nvPicPr>
          <p:cNvPr id="12" name="Stage 4 still" descr="C:/Users/MBC-501-21/AppData/Local/Temp/claude/C--Users-MBC-501-21-Documents-FinalProject/2812579a-ecee-485f-bc45-60f1e059f3bb/scratchpad/img/c4.jpg">    </p:cNvPr>
          <p:cNvPicPr>
            <a:picLocks noChangeAspect="1"/>
          </p:cNvPicPr>
          <p:nvPr/>
        </p:nvPicPr>
        <p:blipFill>
          <a:blip r:embed="rId4"/>
          <a:stretch>
            <a:fillRect/>
          </a:stretch>
        </p:blipFill>
        <p:spPr>
          <a:xfrm>
            <a:off x="5532120" y="1234440"/>
            <a:ext cx="1463040" cy="1828800"/>
          </a:xfrm>
          <a:prstGeom prst="rect">
            <a:avLst/>
          </a:prstGeom>
        </p:spPr>
      </p:pic>
      <p:sp>
        <p:nvSpPr>
          <p:cNvPr id="13" name="Text 7"/>
          <p:cNvSpPr txBox="1"/>
          <p:nvPr/>
        </p:nvSpPr>
        <p:spPr>
          <a:xfrm>
            <a:off x="5532120" y="3154680"/>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4 악마 동굴</a:t>
            </a:r>
            <a:endParaRPr lang="en-US" sz="1500" dirty="0"/>
          </a:p>
        </p:txBody>
      </p:sp>
      <p:sp>
        <p:nvSpPr>
          <p:cNvPr id="14" name="Text 8"/>
          <p:cNvSpPr txBox="1"/>
          <p:nvPr/>
        </p:nvSpPr>
        <p:spPr>
          <a:xfrm>
            <a:off x="5532120" y="3474720"/>
            <a:ext cx="1463040" cy="457200"/>
          </a:xfrm>
          <a:prstGeom prst="rect">
            <a:avLst/>
          </a:prstGeom>
          <a:noFill/>
          <a:ln/>
        </p:spPr>
        <p:txBody>
          <a:bodyPr wrap="square" lIns="0" tIns="0" rIns="0" bIns="0" rtlCol="0" anchor="t"/>
          <a:lstStyle/>
          <a:p>
            <a:pPr indent="0" marL="0">
              <a:buNone/>
            </a:pPr>
            <a:r>
              <a:rPr lang="en-US" sz="1200" dirty="0">
                <a:solidFill>
                  <a:schemeClr val="accent3"/>
                </a:solidFill>
              </a:rPr>
              <a:t>보스 눈먼 동굴 공포</a:t>
            </a:r>
            <a:endParaRPr lang="en-US" sz="1200" dirty="0"/>
          </a:p>
        </p:txBody>
      </p:sp>
      <p:pic>
        <p:nvPicPr>
          <p:cNvPr id="15" name="Stage 5 still" descr="C:/Users/MBC-501-21/AppData/Local/Temp/claude/C--Users-MBC-501-21-Documents-FinalProject/2812579a-ecee-485f-bc45-60f1e059f3bb/scratchpad/img/c5.jpg">    </p:cNvPr>
          <p:cNvPicPr>
            <a:picLocks noChangeAspect="1"/>
          </p:cNvPicPr>
          <p:nvPr/>
        </p:nvPicPr>
        <p:blipFill>
          <a:blip r:embed="rId5"/>
          <a:stretch>
            <a:fillRect/>
          </a:stretch>
        </p:blipFill>
        <p:spPr>
          <a:xfrm>
            <a:off x="7223760" y="1234440"/>
            <a:ext cx="1463040" cy="1828800"/>
          </a:xfrm>
          <a:prstGeom prst="rect">
            <a:avLst/>
          </a:prstGeom>
        </p:spPr>
      </p:pic>
      <p:sp>
        <p:nvSpPr>
          <p:cNvPr id="16" name="Text 9"/>
          <p:cNvSpPr txBox="1"/>
          <p:nvPr/>
        </p:nvSpPr>
        <p:spPr>
          <a:xfrm>
            <a:off x="7223760" y="3154680"/>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5 마왕성</a:t>
            </a:r>
            <a:endParaRPr lang="en-US" sz="1500" dirty="0"/>
          </a:p>
        </p:txBody>
      </p:sp>
      <p:sp>
        <p:nvSpPr>
          <p:cNvPr id="17" name="Text 10"/>
          <p:cNvSpPr txBox="1"/>
          <p:nvPr/>
        </p:nvSpPr>
        <p:spPr>
          <a:xfrm>
            <a:off x="7223760" y="3474720"/>
            <a:ext cx="1463040" cy="457200"/>
          </a:xfrm>
          <a:prstGeom prst="rect">
            <a:avLst/>
          </a:prstGeom>
          <a:noFill/>
          <a:ln/>
        </p:spPr>
        <p:txBody>
          <a:bodyPr wrap="square" lIns="0" tIns="0" rIns="0" bIns="0" rtlCol="0" anchor="t"/>
          <a:lstStyle/>
          <a:p>
            <a:pPr indent="0" marL="0">
              <a:buNone/>
            </a:pPr>
            <a:r>
              <a:rPr lang="en-US" sz="1200" dirty="0">
                <a:solidFill>
                  <a:schemeClr val="accent3"/>
                </a:solidFill>
              </a:rPr>
              <a:t>보스 쌍검 악마군주</a:t>
            </a:r>
            <a:endParaRPr lang="en-US" sz="1200" dirty="0"/>
          </a:p>
        </p:txBody>
      </p:sp>
      <p:sp>
        <p:nvSpPr>
          <p:cNvPr id="18" name="Text 11"/>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800" b="1" dirty="0">
                <a:solidFill>
                  <a:schemeClr val="accent1"/>
                </a:solidFill>
              </a:rPr>
              <a:t>스테이지마다 5개 영역, 5영역은 보스존</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AI와 함께 만든 방식</a:t>
            </a:r>
            <a:endParaRPr lang="en-US" sz="3200" dirty="0"/>
          </a:p>
        </p:txBody>
      </p:sp>
      <p:sp>
        <p:nvSpPr>
          <p:cNvPr id="3" name="AI icon circle 1"/>
          <p:cNvSpPr/>
          <p:nvPr/>
        </p:nvSpPr>
        <p:spPr>
          <a:xfrm>
            <a:off x="457200" y="1280160"/>
            <a:ext cx="685800" cy="685800"/>
          </a:xfrm>
          <a:prstGeom prst="ellipse">
            <a:avLst/>
          </a:prstGeom>
          <a:solidFill>
            <a:schemeClr val="accent1"/>
          </a:solidFill>
          <a:ln/>
        </p:spPr>
      </p:sp>
      <p:pic>
        <p:nvPicPr>
          <p:cNvPr id="4" name="AI icon 1" descr="preencoded.png">    </p:cNvPr>
          <p:cNvPicPr>
            <a:picLocks noChangeAspect="1"/>
          </p:cNvPicPr>
          <p:nvPr/>
        </p:nvPicPr>
        <p:blipFill>
          <a:blip r:embed="rId1"/>
          <a:stretch>
            <a:fillRect/>
          </a:stretch>
        </p:blipFill>
        <p:spPr>
          <a:xfrm>
            <a:off x="621792" y="1444752"/>
            <a:ext cx="356616" cy="356616"/>
          </a:xfrm>
          <a:prstGeom prst="rect">
            <a:avLst/>
          </a:prstGeom>
        </p:spPr>
      </p:pic>
      <p:sp>
        <p:nvSpPr>
          <p:cNvPr id="5" name="Text 2"/>
          <p:cNvSpPr txBox="1"/>
          <p:nvPr/>
        </p:nvSpPr>
        <p:spPr>
          <a:xfrm>
            <a:off x="1371600" y="1261872"/>
            <a:ext cx="3931920" cy="347472"/>
          </a:xfrm>
          <a:prstGeom prst="rect">
            <a:avLst/>
          </a:prstGeom>
          <a:noFill/>
          <a:ln/>
        </p:spPr>
        <p:txBody>
          <a:bodyPr wrap="square" lIns="0" tIns="0" rIns="0" bIns="0" rtlCol="0" anchor="ctr"/>
          <a:lstStyle/>
          <a:p>
            <a:pPr indent="0" marL="0">
              <a:buNone/>
            </a:pPr>
            <a:r>
              <a:rPr lang="en-US" sz="1800" b="1" dirty="0">
                <a:solidFill>
                  <a:schemeClr val="tx1"/>
                </a:solidFill>
              </a:rPr>
              <a:t>Claude Code</a:t>
            </a:r>
            <a:endParaRPr lang="en-US" sz="1800" dirty="0"/>
          </a:p>
        </p:txBody>
      </p:sp>
      <p:sp>
        <p:nvSpPr>
          <p:cNvPr id="6" name="Text 3"/>
          <p:cNvSpPr txBox="1"/>
          <p:nvPr/>
        </p:nvSpPr>
        <p:spPr>
          <a:xfrm>
            <a:off x="1371600" y="1627632"/>
            <a:ext cx="3931920" cy="640080"/>
          </a:xfrm>
          <a:prstGeom prst="rect">
            <a:avLst/>
          </a:prstGeom>
          <a:noFill/>
          <a:ln/>
        </p:spPr>
        <p:txBody>
          <a:bodyPr wrap="square" lIns="0" tIns="0" rIns="0" bIns="0" rtlCol="0" anchor="t"/>
          <a:lstStyle/>
          <a:p>
            <a:pPr indent="0" marL="0">
              <a:buNone/>
            </a:pPr>
            <a:r>
              <a:rPr lang="en-US" sz="1400" dirty="0">
                <a:solidFill>
                  <a:schemeClr val="tx2"/>
                </a:solidFill>
              </a:rPr>
              <a:t>설계 문서·스크립트·수칙을 작성하고 관리</a:t>
            </a:r>
            <a:endParaRPr lang="en-US" sz="1400" dirty="0"/>
          </a:p>
        </p:txBody>
      </p:sp>
      <p:sp>
        <p:nvSpPr>
          <p:cNvPr id="7" name="AI icon circle 2"/>
          <p:cNvSpPr/>
          <p:nvPr/>
        </p:nvSpPr>
        <p:spPr>
          <a:xfrm>
            <a:off x="457200" y="2359152"/>
            <a:ext cx="685800" cy="685800"/>
          </a:xfrm>
          <a:prstGeom prst="ellipse">
            <a:avLst/>
          </a:prstGeom>
          <a:solidFill>
            <a:schemeClr val="accent1"/>
          </a:solidFill>
          <a:ln/>
        </p:spPr>
      </p:sp>
      <p:pic>
        <p:nvPicPr>
          <p:cNvPr id="8" name="AI icon 2" descr="preencoded.png">    </p:cNvPr>
          <p:cNvPicPr>
            <a:picLocks noChangeAspect="1"/>
          </p:cNvPicPr>
          <p:nvPr/>
        </p:nvPicPr>
        <p:blipFill>
          <a:blip r:embed="rId2"/>
          <a:stretch>
            <a:fillRect/>
          </a:stretch>
        </p:blipFill>
        <p:spPr>
          <a:xfrm>
            <a:off x="621792" y="2523744"/>
            <a:ext cx="356616" cy="356616"/>
          </a:xfrm>
          <a:prstGeom prst="rect">
            <a:avLst/>
          </a:prstGeom>
        </p:spPr>
      </p:pic>
      <p:sp>
        <p:nvSpPr>
          <p:cNvPr id="9" name="Text 5"/>
          <p:cNvSpPr txBox="1"/>
          <p:nvPr/>
        </p:nvSpPr>
        <p:spPr>
          <a:xfrm>
            <a:off x="1371600" y="2340864"/>
            <a:ext cx="3931920" cy="347472"/>
          </a:xfrm>
          <a:prstGeom prst="rect">
            <a:avLst/>
          </a:prstGeom>
          <a:noFill/>
          <a:ln/>
        </p:spPr>
        <p:txBody>
          <a:bodyPr wrap="square" lIns="0" tIns="0" rIns="0" bIns="0" rtlCol="0" anchor="ctr"/>
          <a:lstStyle/>
          <a:p>
            <a:pPr indent="0" marL="0">
              <a:buNone/>
            </a:pPr>
            <a:r>
              <a:rPr lang="en-US" sz="1800" b="1" dirty="0">
                <a:solidFill>
                  <a:schemeClr val="tx1"/>
                </a:solidFill>
              </a:rPr>
              <a:t>Unity MCP</a:t>
            </a:r>
            <a:endParaRPr lang="en-US" sz="1800" dirty="0"/>
          </a:p>
        </p:txBody>
      </p:sp>
      <p:sp>
        <p:nvSpPr>
          <p:cNvPr id="10" name="Text 6"/>
          <p:cNvSpPr txBox="1"/>
          <p:nvPr/>
        </p:nvSpPr>
        <p:spPr>
          <a:xfrm>
            <a:off x="1371600" y="2706624"/>
            <a:ext cx="3931920" cy="640080"/>
          </a:xfrm>
          <a:prstGeom prst="rect">
            <a:avLst/>
          </a:prstGeom>
          <a:noFill/>
          <a:ln/>
        </p:spPr>
        <p:txBody>
          <a:bodyPr wrap="square" lIns="0" tIns="0" rIns="0" bIns="0" rtlCol="0" anchor="t"/>
          <a:lstStyle/>
          <a:p>
            <a:pPr indent="0" marL="0">
              <a:buNone/>
            </a:pPr>
            <a:r>
              <a:rPr lang="en-US" sz="1400" dirty="0">
                <a:solidFill>
                  <a:schemeClr val="tx2"/>
                </a:solidFill>
              </a:rPr>
              <a:t>승인받은 설계를 씬에 발판·몬스터로 배치</a:t>
            </a:r>
            <a:endParaRPr lang="en-US" sz="1400" dirty="0"/>
          </a:p>
        </p:txBody>
      </p:sp>
      <p:sp>
        <p:nvSpPr>
          <p:cNvPr id="11" name="AI icon circle 3"/>
          <p:cNvSpPr/>
          <p:nvPr/>
        </p:nvSpPr>
        <p:spPr>
          <a:xfrm>
            <a:off x="457200" y="3438144"/>
            <a:ext cx="685800" cy="685800"/>
          </a:xfrm>
          <a:prstGeom prst="ellipse">
            <a:avLst/>
          </a:prstGeom>
          <a:solidFill>
            <a:schemeClr val="accent1"/>
          </a:solidFill>
          <a:ln/>
        </p:spPr>
      </p:sp>
      <p:pic>
        <p:nvPicPr>
          <p:cNvPr id="12" name="AI icon 3" descr="preencoded.png">    </p:cNvPr>
          <p:cNvPicPr>
            <a:picLocks noChangeAspect="1"/>
          </p:cNvPicPr>
          <p:nvPr/>
        </p:nvPicPr>
        <p:blipFill>
          <a:blip r:embed="rId3"/>
          <a:stretch>
            <a:fillRect/>
          </a:stretch>
        </p:blipFill>
        <p:spPr>
          <a:xfrm>
            <a:off x="621792" y="3602736"/>
            <a:ext cx="356616" cy="356616"/>
          </a:xfrm>
          <a:prstGeom prst="rect">
            <a:avLst/>
          </a:prstGeom>
        </p:spPr>
      </p:pic>
      <p:sp>
        <p:nvSpPr>
          <p:cNvPr id="13" name="Text 8"/>
          <p:cNvSpPr txBox="1"/>
          <p:nvPr/>
        </p:nvSpPr>
        <p:spPr>
          <a:xfrm>
            <a:off x="1371600" y="3419856"/>
            <a:ext cx="3931920" cy="347472"/>
          </a:xfrm>
          <a:prstGeom prst="rect">
            <a:avLst/>
          </a:prstGeom>
          <a:noFill/>
          <a:ln/>
        </p:spPr>
        <p:txBody>
          <a:bodyPr wrap="square" lIns="0" tIns="0" rIns="0" bIns="0" rtlCol="0" anchor="ctr"/>
          <a:lstStyle/>
          <a:p>
            <a:pPr indent="0" marL="0">
              <a:buNone/>
            </a:pPr>
            <a:r>
              <a:rPr lang="en-US" sz="1800" b="1" dirty="0">
                <a:solidFill>
                  <a:schemeClr val="tx1"/>
                </a:solidFill>
              </a:rPr>
              <a:t>이미지 워크플로</a:t>
            </a:r>
            <a:endParaRPr lang="en-US" sz="1800" dirty="0"/>
          </a:p>
        </p:txBody>
      </p:sp>
      <p:sp>
        <p:nvSpPr>
          <p:cNvPr id="14" name="Text 9"/>
          <p:cNvSpPr txBox="1"/>
          <p:nvPr/>
        </p:nvSpPr>
        <p:spPr>
          <a:xfrm>
            <a:off x="1371600" y="3785616"/>
            <a:ext cx="3931920" cy="640080"/>
          </a:xfrm>
          <a:prstGeom prst="rect">
            <a:avLst/>
          </a:prstGeom>
          <a:noFill/>
          <a:ln/>
        </p:spPr>
        <p:txBody>
          <a:bodyPr wrap="square" lIns="0" tIns="0" rIns="0" bIns="0" rtlCol="0" anchor="t"/>
          <a:lstStyle/>
          <a:p>
            <a:pPr indent="0" marL="0">
              <a:buNone/>
            </a:pPr>
            <a:r>
              <a:rPr lang="en-US" sz="1400" dirty="0">
                <a:solidFill>
                  <a:schemeClr val="tx2"/>
                </a:solidFill>
              </a:rPr>
              <a:t>캐릭터·배경·보스·이펙트 에셋 생성</a:t>
            </a:r>
            <a:endParaRPr lang="en-US" sz="1400" dirty="0"/>
          </a:p>
        </p:txBody>
      </p:sp>
      <p:pic>
        <p:nvPicPr>
          <p:cNvPr id="15" name="Generated trap props" descr="C:/Users/MBC-501-21/AppData/Local/Temp/claude/C--Users-MBC-501-21-Documents-FinalProject/2812579a-ecee-485f-bc45-60f1e059f3bb/scratchpad/img/trap.jpg">    </p:cNvPr>
          <p:cNvPicPr>
            <a:picLocks noChangeAspect="1"/>
          </p:cNvPicPr>
          <p:nvPr/>
        </p:nvPicPr>
        <p:blipFill>
          <a:blip r:embed="rId4"/>
          <a:stretch>
            <a:fillRect/>
          </a:stretch>
        </p:blipFill>
        <p:spPr>
          <a:xfrm>
            <a:off x="5669280" y="1280160"/>
            <a:ext cx="3017520" cy="3017520"/>
          </a:xfrm>
          <a:prstGeom prst="rect">
            <a:avLst/>
          </a:prstGeom>
        </p:spPr>
      </p:pic>
      <p:sp>
        <p:nvSpPr>
          <p:cNvPr id="16" name="Text 10"/>
          <p:cNvSpPr txBox="1"/>
          <p:nvPr/>
        </p:nvSpPr>
        <p:spPr>
          <a:xfrm>
            <a:off x="5669280" y="4370832"/>
            <a:ext cx="3017520" cy="274320"/>
          </a:xfrm>
          <a:prstGeom prst="rect">
            <a:avLst/>
          </a:prstGeom>
          <a:noFill/>
          <a:ln/>
        </p:spPr>
        <p:txBody>
          <a:bodyPr wrap="square" lIns="0" tIns="0" rIns="0" bIns="0" rtlCol="0" anchor="ctr"/>
          <a:lstStyle/>
          <a:p>
            <a:pPr indent="0" marL="0">
              <a:buNone/>
            </a:pPr>
            <a:r>
              <a:rPr lang="en-US" sz="1200" dirty="0">
                <a:solidFill>
                  <a:schemeClr val="tx2"/>
                </a:solidFill>
              </a:rPr>
              <a:t>AI 생성 에셋 예: 용암 함정 소품</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수칙으로 품질을 지킨다</a:t>
            </a:r>
            <a:endParaRPr lang="en-US" sz="3200" dirty="0"/>
          </a:p>
        </p:txBody>
      </p:sp>
      <p:sp>
        <p:nvSpPr>
          <p:cNvPr id="3" name="Principle card 1"/>
          <p:cNvSpPr/>
          <p:nvPr/>
        </p:nvSpPr>
        <p:spPr>
          <a:xfrm>
            <a:off x="457200" y="1280160"/>
            <a:ext cx="2651760" cy="1920240"/>
          </a:xfrm>
          <a:prstGeom prst="roundRect">
            <a:avLst>
              <a:gd name="adj" fmla="val 3810"/>
            </a:avLst>
          </a:prstGeom>
          <a:solidFill>
            <a:schemeClr val="bg2"/>
          </a:solidFill>
          <a:ln/>
        </p:spPr>
      </p:sp>
      <p:sp>
        <p:nvSpPr>
          <p:cNvPr id="4" name="Text 2"/>
          <p:cNvSpPr txBox="1"/>
          <p:nvPr/>
        </p:nvSpPr>
        <p:spPr>
          <a:xfrm>
            <a:off x="640080" y="1371600"/>
            <a:ext cx="2286000" cy="868680"/>
          </a:xfrm>
          <a:prstGeom prst="rect">
            <a:avLst/>
          </a:prstGeom>
          <a:noFill/>
          <a:ln/>
        </p:spPr>
        <p:txBody>
          <a:bodyPr wrap="square" lIns="0" tIns="0" rIns="0" bIns="0" rtlCol="0" anchor="ctr"/>
          <a:lstStyle/>
          <a:p>
            <a:pPr indent="0" marL="0">
              <a:buNone/>
            </a:pPr>
            <a:r>
              <a:rPr lang="en-US" sz="4800" b="1" dirty="0">
                <a:solidFill>
                  <a:schemeClr val="accent1"/>
                </a:solidFill>
              </a:rPr>
              <a:t>80%</a:t>
            </a:r>
            <a:endParaRPr lang="en-US" sz="4800" dirty="0"/>
          </a:p>
        </p:txBody>
      </p:sp>
      <p:sp>
        <p:nvSpPr>
          <p:cNvPr id="5" name="Text 3"/>
          <p:cNvSpPr txBox="1"/>
          <p:nvPr/>
        </p:nvSpPr>
        <p:spPr>
          <a:xfrm>
            <a:off x="640080" y="2286000"/>
            <a:ext cx="2286000" cy="822960"/>
          </a:xfrm>
          <a:prstGeom prst="rect">
            <a:avLst/>
          </a:prstGeom>
          <a:noFill/>
          <a:ln/>
        </p:spPr>
        <p:txBody>
          <a:bodyPr wrap="square" lIns="0" tIns="0" rIns="0" bIns="0" rtlCol="0" anchor="t"/>
          <a:lstStyle/>
          <a:p>
            <a:pPr indent="0" marL="0">
              <a:buNone/>
            </a:pPr>
            <a:r>
              <a:rPr lang="en-US" sz="1400" dirty="0">
                <a:solidFill>
                  <a:schemeClr val="tx2"/>
                </a:solidFill>
              </a:rPr>
              <a:t>점프 성능 80%로도</a:t>
            </a:r>
            <a:endParaRPr lang="en-US" sz="1400" dirty="0"/>
          </a:p>
          <a:p>
            <a:pPr indent="0" marL="0">
              <a:buNone/>
            </a:pPr>
            <a:r>
              <a:rPr lang="en-US" sz="1400" dirty="0">
                <a:solidFill>
                  <a:schemeClr val="tx2"/>
                </a:solidFill>
              </a:rPr>
              <a:t>닿는 발판 간격</a:t>
            </a:r>
            <a:endParaRPr lang="en-US" sz="1400" dirty="0"/>
          </a:p>
        </p:txBody>
      </p:sp>
      <p:sp>
        <p:nvSpPr>
          <p:cNvPr id="6" name="Principle card 2"/>
          <p:cNvSpPr/>
          <p:nvPr/>
        </p:nvSpPr>
        <p:spPr>
          <a:xfrm>
            <a:off x="3246120" y="1280160"/>
            <a:ext cx="2651760" cy="1920240"/>
          </a:xfrm>
          <a:prstGeom prst="roundRect">
            <a:avLst>
              <a:gd name="adj" fmla="val 3810"/>
            </a:avLst>
          </a:prstGeom>
          <a:solidFill>
            <a:schemeClr val="bg2"/>
          </a:solidFill>
          <a:ln/>
        </p:spPr>
      </p:sp>
      <p:sp>
        <p:nvSpPr>
          <p:cNvPr id="7" name="Text 5"/>
          <p:cNvSpPr txBox="1"/>
          <p:nvPr/>
        </p:nvSpPr>
        <p:spPr>
          <a:xfrm>
            <a:off x="3429000" y="1371600"/>
            <a:ext cx="2286000" cy="868680"/>
          </a:xfrm>
          <a:prstGeom prst="rect">
            <a:avLst/>
          </a:prstGeom>
          <a:noFill/>
          <a:ln/>
        </p:spPr>
        <p:txBody>
          <a:bodyPr wrap="square" lIns="0" tIns="0" rIns="0" bIns="0" rtlCol="0" anchor="ctr"/>
          <a:lstStyle/>
          <a:p>
            <a:pPr indent="0" marL="0">
              <a:buNone/>
            </a:pPr>
            <a:r>
              <a:rPr lang="en-US" sz="4800" b="1" dirty="0">
                <a:solidFill>
                  <a:schemeClr val="accent1"/>
                </a:solidFill>
              </a:rPr>
              <a:t>7</a:t>
            </a:r>
            <a:endParaRPr lang="en-US" sz="4800" dirty="0"/>
          </a:p>
        </p:txBody>
      </p:sp>
      <p:sp>
        <p:nvSpPr>
          <p:cNvPr id="8" name="Text 6"/>
          <p:cNvSpPr txBox="1"/>
          <p:nvPr/>
        </p:nvSpPr>
        <p:spPr>
          <a:xfrm>
            <a:off x="3429000" y="2286000"/>
            <a:ext cx="2286000" cy="822960"/>
          </a:xfrm>
          <a:prstGeom prst="rect">
            <a:avLst/>
          </a:prstGeom>
          <a:noFill/>
          <a:ln/>
        </p:spPr>
        <p:txBody>
          <a:bodyPr wrap="square" lIns="0" tIns="0" rIns="0" bIns="0" rtlCol="0" anchor="t"/>
          <a:lstStyle/>
          <a:p>
            <a:pPr indent="0" marL="0">
              <a:buNone/>
            </a:pPr>
            <a:r>
              <a:rPr lang="en-US" sz="1400" dirty="0">
                <a:solidFill>
                  <a:schemeClr val="tx2"/>
                </a:solidFill>
              </a:rPr>
              <a:t>이동형 발판 최대 이동거리</a:t>
            </a:r>
            <a:endParaRPr lang="en-US" sz="1400" dirty="0"/>
          </a:p>
          <a:p>
            <a:pPr indent="0" marL="0">
              <a:buNone/>
            </a:pPr>
            <a:r>
              <a:rPr lang="en-US" sz="1400" dirty="0">
                <a:solidFill>
                  <a:schemeClr val="tx2"/>
                </a:solidFill>
              </a:rPr>
              <a:t>(1초 이동거리 기준)</a:t>
            </a:r>
            <a:endParaRPr lang="en-US" sz="1400" dirty="0"/>
          </a:p>
        </p:txBody>
      </p:sp>
      <p:sp>
        <p:nvSpPr>
          <p:cNvPr id="9" name="Principle card 3"/>
          <p:cNvSpPr/>
          <p:nvPr/>
        </p:nvSpPr>
        <p:spPr>
          <a:xfrm>
            <a:off x="6035040" y="1280160"/>
            <a:ext cx="2651760" cy="1920240"/>
          </a:xfrm>
          <a:prstGeom prst="roundRect">
            <a:avLst>
              <a:gd name="adj" fmla="val 3810"/>
            </a:avLst>
          </a:prstGeom>
          <a:solidFill>
            <a:schemeClr val="bg2"/>
          </a:solidFill>
          <a:ln/>
        </p:spPr>
      </p:sp>
      <p:sp>
        <p:nvSpPr>
          <p:cNvPr id="10" name="Text 8"/>
          <p:cNvSpPr txBox="1"/>
          <p:nvPr/>
        </p:nvSpPr>
        <p:spPr>
          <a:xfrm>
            <a:off x="6217920" y="1371600"/>
            <a:ext cx="2286000" cy="868680"/>
          </a:xfrm>
          <a:prstGeom prst="rect">
            <a:avLst/>
          </a:prstGeom>
          <a:noFill/>
          <a:ln/>
        </p:spPr>
        <p:txBody>
          <a:bodyPr wrap="square" lIns="0" tIns="0" rIns="0" bIns="0" rtlCol="0" anchor="ctr"/>
          <a:lstStyle/>
          <a:p>
            <a:pPr indent="0" marL="0">
              <a:buNone/>
            </a:pPr>
            <a:r>
              <a:rPr lang="en-US" sz="4800" b="1" dirty="0">
                <a:solidFill>
                  <a:schemeClr val="accent1"/>
                </a:solidFill>
              </a:rPr>
              <a:t>1~2분</a:t>
            </a:r>
            <a:endParaRPr lang="en-US" sz="4800" dirty="0"/>
          </a:p>
        </p:txBody>
      </p:sp>
      <p:sp>
        <p:nvSpPr>
          <p:cNvPr id="11" name="Text 9"/>
          <p:cNvSpPr txBox="1"/>
          <p:nvPr/>
        </p:nvSpPr>
        <p:spPr>
          <a:xfrm>
            <a:off x="6217920" y="2286000"/>
            <a:ext cx="2286000" cy="822960"/>
          </a:xfrm>
          <a:prstGeom prst="rect">
            <a:avLst/>
          </a:prstGeom>
          <a:noFill/>
          <a:ln/>
        </p:spPr>
        <p:txBody>
          <a:bodyPr wrap="square" lIns="0" tIns="0" rIns="0" bIns="0" rtlCol="0" anchor="t"/>
          <a:lstStyle/>
          <a:p>
            <a:pPr indent="0" marL="0">
              <a:buNone/>
            </a:pPr>
            <a:r>
              <a:rPr lang="en-US" sz="1400" dirty="0">
                <a:solidFill>
                  <a:schemeClr val="tx2"/>
                </a:solidFill>
              </a:rPr>
              <a:t>영역 통과 목표 시간</a:t>
            </a:r>
            <a:endParaRPr lang="en-US" sz="1400" dirty="0"/>
          </a:p>
          <a:p>
            <a:pPr indent="0" marL="0">
              <a:buNone/>
            </a:pPr>
            <a:r>
              <a:rPr lang="en-US" sz="1400" dirty="0">
                <a:solidFill>
                  <a:schemeClr val="tx2"/>
                </a:solidFill>
              </a:rPr>
              <a:t>(보스 제외)</a:t>
            </a:r>
            <a:endParaRPr lang="en-US" sz="1400" dirty="0"/>
          </a:p>
        </p:txBody>
      </p:sp>
      <p:sp>
        <p:nvSpPr>
          <p:cNvPr id="12" name="Flow chip 1"/>
          <p:cNvSpPr/>
          <p:nvPr/>
        </p:nvSpPr>
        <p:spPr>
          <a:xfrm>
            <a:off x="457200" y="3566160"/>
            <a:ext cx="1828800" cy="548640"/>
          </a:xfrm>
          <a:prstGeom prst="roundRect">
            <a:avLst>
              <a:gd name="adj" fmla="val 50000"/>
            </a:avLst>
          </a:prstGeom>
          <a:solidFill>
            <a:schemeClr val="bg2"/>
          </a:solidFill>
          <a:ln/>
        </p:spPr>
      </p:sp>
      <p:sp>
        <p:nvSpPr>
          <p:cNvPr id="13" name="Text 11"/>
          <p:cNvSpPr txBox="1"/>
          <p:nvPr/>
        </p:nvSpPr>
        <p:spPr>
          <a:xfrm>
            <a:off x="457200" y="3566160"/>
            <a:ext cx="1828800" cy="548640"/>
          </a:xfrm>
          <a:prstGeom prst="rect">
            <a:avLst/>
          </a:prstGeom>
          <a:noFill/>
          <a:ln/>
        </p:spPr>
        <p:txBody>
          <a:bodyPr wrap="square" lIns="0" tIns="0" rIns="0" bIns="0" rtlCol="0" anchor="ctr"/>
          <a:lstStyle/>
          <a:p>
            <a:pPr algn="ctr" indent="0" marL="0">
              <a:buNone/>
            </a:pPr>
            <a:r>
              <a:rPr lang="en-US" sz="1400" b="1" dirty="0">
                <a:solidFill>
                  <a:schemeClr val="tx1"/>
                </a:solidFill>
              </a:rPr>
              <a:t>설계 (코드·문서)</a:t>
            </a:r>
            <a:endParaRPr lang="en-US" sz="1400" dirty="0"/>
          </a:p>
        </p:txBody>
      </p:sp>
      <p:sp>
        <p:nvSpPr>
          <p:cNvPr id="14" name="Text 12"/>
          <p:cNvSpPr txBox="1"/>
          <p:nvPr/>
        </p:nvSpPr>
        <p:spPr>
          <a:xfrm>
            <a:off x="2286000" y="3566160"/>
            <a:ext cx="274320" cy="54864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15" name="Flow chip 2"/>
          <p:cNvSpPr/>
          <p:nvPr/>
        </p:nvSpPr>
        <p:spPr>
          <a:xfrm>
            <a:off x="2560320" y="3566160"/>
            <a:ext cx="1828800" cy="548640"/>
          </a:xfrm>
          <a:prstGeom prst="roundRect">
            <a:avLst>
              <a:gd name="adj" fmla="val 50000"/>
            </a:avLst>
          </a:prstGeom>
          <a:solidFill>
            <a:schemeClr val="bg2"/>
          </a:solidFill>
          <a:ln/>
        </p:spPr>
      </p:sp>
      <p:sp>
        <p:nvSpPr>
          <p:cNvPr id="16" name="Text 14"/>
          <p:cNvSpPr txBox="1"/>
          <p:nvPr/>
        </p:nvSpPr>
        <p:spPr>
          <a:xfrm>
            <a:off x="2560320" y="3566160"/>
            <a:ext cx="1828800" cy="548640"/>
          </a:xfrm>
          <a:prstGeom prst="rect">
            <a:avLst/>
          </a:prstGeom>
          <a:noFill/>
          <a:ln/>
        </p:spPr>
        <p:txBody>
          <a:bodyPr wrap="square" lIns="0" tIns="0" rIns="0" bIns="0" rtlCol="0" anchor="ctr"/>
          <a:lstStyle/>
          <a:p>
            <a:pPr algn="ctr" indent="0" marL="0">
              <a:buNone/>
            </a:pPr>
            <a:r>
              <a:rPr lang="en-US" sz="1400" b="1" dirty="0">
                <a:solidFill>
                  <a:schemeClr val="tx1"/>
                </a:solidFill>
              </a:rPr>
              <a:t>시뮬레이션 검수</a:t>
            </a:r>
            <a:endParaRPr lang="en-US" sz="1400" dirty="0"/>
          </a:p>
        </p:txBody>
      </p:sp>
      <p:sp>
        <p:nvSpPr>
          <p:cNvPr id="17" name="Text 15"/>
          <p:cNvSpPr txBox="1"/>
          <p:nvPr/>
        </p:nvSpPr>
        <p:spPr>
          <a:xfrm>
            <a:off x="4389120" y="3566160"/>
            <a:ext cx="274320" cy="54864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18" name="Flow chip 3"/>
          <p:cNvSpPr/>
          <p:nvPr/>
        </p:nvSpPr>
        <p:spPr>
          <a:xfrm>
            <a:off x="4663440" y="3566160"/>
            <a:ext cx="1828800" cy="548640"/>
          </a:xfrm>
          <a:prstGeom prst="roundRect">
            <a:avLst>
              <a:gd name="adj" fmla="val 50000"/>
            </a:avLst>
          </a:prstGeom>
          <a:solidFill>
            <a:schemeClr val="bg2"/>
          </a:solidFill>
          <a:ln/>
        </p:spPr>
      </p:sp>
      <p:sp>
        <p:nvSpPr>
          <p:cNvPr id="19" name="Text 17"/>
          <p:cNvSpPr txBox="1"/>
          <p:nvPr/>
        </p:nvSpPr>
        <p:spPr>
          <a:xfrm>
            <a:off x="4663440" y="3566160"/>
            <a:ext cx="1828800" cy="548640"/>
          </a:xfrm>
          <a:prstGeom prst="rect">
            <a:avLst/>
          </a:prstGeom>
          <a:noFill/>
          <a:ln/>
        </p:spPr>
        <p:txBody>
          <a:bodyPr wrap="square" lIns="0" tIns="0" rIns="0" bIns="0" rtlCol="0" anchor="ctr"/>
          <a:lstStyle/>
          <a:p>
            <a:pPr algn="ctr" indent="0" marL="0">
              <a:buNone/>
            </a:pPr>
            <a:r>
              <a:rPr lang="en-US" sz="1400" b="1" dirty="0">
                <a:solidFill>
                  <a:schemeClr val="tx1"/>
                </a:solidFill>
              </a:rPr>
              <a:t>사용자 승인</a:t>
            </a:r>
            <a:endParaRPr lang="en-US" sz="1400" dirty="0"/>
          </a:p>
        </p:txBody>
      </p:sp>
      <p:sp>
        <p:nvSpPr>
          <p:cNvPr id="20" name="Text 18"/>
          <p:cNvSpPr txBox="1"/>
          <p:nvPr/>
        </p:nvSpPr>
        <p:spPr>
          <a:xfrm>
            <a:off x="6492240" y="3566160"/>
            <a:ext cx="274320" cy="54864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21" name="Flow chip 4"/>
          <p:cNvSpPr/>
          <p:nvPr/>
        </p:nvSpPr>
        <p:spPr>
          <a:xfrm>
            <a:off x="6766560" y="3566160"/>
            <a:ext cx="1828800" cy="548640"/>
          </a:xfrm>
          <a:prstGeom prst="roundRect">
            <a:avLst>
              <a:gd name="adj" fmla="val 50000"/>
            </a:avLst>
          </a:prstGeom>
          <a:solidFill>
            <a:schemeClr val="accent1"/>
          </a:solidFill>
          <a:ln/>
        </p:spPr>
      </p:sp>
      <p:sp>
        <p:nvSpPr>
          <p:cNvPr id="22" name="Text 20"/>
          <p:cNvSpPr txBox="1"/>
          <p:nvPr/>
        </p:nvSpPr>
        <p:spPr>
          <a:xfrm>
            <a:off x="6766560" y="3566160"/>
            <a:ext cx="1828800" cy="548640"/>
          </a:xfrm>
          <a:prstGeom prst="rect">
            <a:avLst/>
          </a:prstGeom>
          <a:noFill/>
          <a:ln/>
        </p:spPr>
        <p:txBody>
          <a:bodyPr wrap="square" lIns="0" tIns="0" rIns="0" bIns="0" rtlCol="0" anchor="ctr"/>
          <a:lstStyle/>
          <a:p>
            <a:pPr algn="ctr" indent="0" marL="0">
              <a:buNone/>
            </a:pPr>
            <a:r>
              <a:rPr lang="en-US" sz="1400" b="1" dirty="0">
                <a:solidFill>
                  <a:schemeClr val="tx1"/>
                </a:solidFill>
              </a:rPr>
              <a:t>Unity 적용</a:t>
            </a:r>
            <a:endParaRPr lang="en-US" sz="1400" dirty="0"/>
          </a:p>
        </p:txBody>
      </p:sp>
      <p:sp>
        <p:nvSpPr>
          <p:cNvPr id="23" name="Text 21"/>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400" dirty="0">
                <a:solidFill>
                  <a:schemeClr val="tx2"/>
                </a:solidFill>
              </a:rPr>
              <a:t>작업 수칙 55개 + 맵 제작 수칙 23개를 문서로 고정</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보스전: 스테이지의 마침표</a:t>
            </a:r>
            <a:endParaRPr lang="en-US" sz="3200" dirty="0"/>
          </a:p>
        </p:txBody>
      </p:sp>
      <p:pic>
        <p:nvPicPr>
          <p:cNvPr id="3" name="Boss still 1" descr="C:/Users/MBC-501-21/AppData/Local/Temp/claude/C--Users-MBC-501-21-Documents-FinalProject/2812579a-ecee-485f-bc45-60f1e059f3bb/scratchpad/img/b3.jpg">    </p:cNvPr>
          <p:cNvPicPr>
            <a:picLocks noChangeAspect="1"/>
          </p:cNvPicPr>
          <p:nvPr/>
        </p:nvPicPr>
        <p:blipFill>
          <a:blip r:embed="rId1"/>
          <a:srcRect l="0" r="0" t="0" b="0"/>
          <a:stretch/>
        </p:blipFill>
        <p:spPr>
          <a:xfrm>
            <a:off x="457200" y="1234440"/>
            <a:ext cx="2651760" cy="1490472"/>
          </a:xfrm>
          <a:prstGeom prst="rect">
            <a:avLst/>
          </a:prstGeom>
        </p:spPr>
      </p:pic>
      <p:sp>
        <p:nvSpPr>
          <p:cNvPr id="4" name="Text 1"/>
          <p:cNvSpPr txBox="1"/>
          <p:nvPr/>
        </p:nvSpPr>
        <p:spPr>
          <a:xfrm>
            <a:off x="457200" y="2816352"/>
            <a:ext cx="2651760" cy="320040"/>
          </a:xfrm>
          <a:prstGeom prst="rect">
            <a:avLst/>
          </a:prstGeom>
          <a:noFill/>
          <a:ln/>
        </p:spPr>
        <p:txBody>
          <a:bodyPr wrap="square" lIns="0" tIns="0" rIns="0" bIns="0" rtlCol="0" anchor="ctr"/>
          <a:lstStyle/>
          <a:p>
            <a:pPr indent="0" marL="0">
              <a:buNone/>
            </a:pPr>
            <a:r>
              <a:rPr lang="en-US" sz="1500" b="1" dirty="0">
                <a:solidFill>
                  <a:schemeClr val="tx1"/>
                </a:solidFill>
              </a:rPr>
              <a:t>3 · 화산 전갈</a:t>
            </a:r>
            <a:endParaRPr lang="en-US" sz="1500" dirty="0"/>
          </a:p>
        </p:txBody>
      </p:sp>
      <p:pic>
        <p:nvPicPr>
          <p:cNvPr id="5" name="Boss still 2" descr="C:/Users/MBC-501-21/AppData/Local/Temp/claude/C--Users-MBC-501-21-Documents-FinalProject/2812579a-ecee-485f-bc45-60f1e059f3bb/scratchpad/img/b4.jpg">    </p:cNvPr>
          <p:cNvPicPr>
            <a:picLocks noChangeAspect="1"/>
          </p:cNvPicPr>
          <p:nvPr/>
        </p:nvPicPr>
        <p:blipFill>
          <a:blip r:embed="rId2"/>
          <a:srcRect l="0" r="0" t="0" b="0"/>
          <a:stretch/>
        </p:blipFill>
        <p:spPr>
          <a:xfrm>
            <a:off x="3246120" y="1234440"/>
            <a:ext cx="2651760" cy="1490472"/>
          </a:xfrm>
          <a:prstGeom prst="rect">
            <a:avLst/>
          </a:prstGeom>
        </p:spPr>
      </p:pic>
      <p:sp>
        <p:nvSpPr>
          <p:cNvPr id="6" name="Text 2"/>
          <p:cNvSpPr txBox="1"/>
          <p:nvPr/>
        </p:nvSpPr>
        <p:spPr>
          <a:xfrm>
            <a:off x="3246120" y="2816352"/>
            <a:ext cx="2651760" cy="320040"/>
          </a:xfrm>
          <a:prstGeom prst="rect">
            <a:avLst/>
          </a:prstGeom>
          <a:noFill/>
          <a:ln/>
        </p:spPr>
        <p:txBody>
          <a:bodyPr wrap="square" lIns="0" tIns="0" rIns="0" bIns="0" rtlCol="0" anchor="ctr"/>
          <a:lstStyle/>
          <a:p>
            <a:pPr indent="0" marL="0">
              <a:buNone/>
            </a:pPr>
            <a:r>
              <a:rPr lang="en-US" sz="1500" b="1" dirty="0">
                <a:solidFill>
                  <a:schemeClr val="tx1"/>
                </a:solidFill>
              </a:rPr>
              <a:t>4 · 눈먼 동굴 공포</a:t>
            </a:r>
            <a:endParaRPr lang="en-US" sz="1500" dirty="0"/>
          </a:p>
        </p:txBody>
      </p:sp>
      <p:pic>
        <p:nvPicPr>
          <p:cNvPr id="7" name="Boss still 3" descr="C:/Users/MBC-501-21/AppData/Local/Temp/claude/C--Users-MBC-501-21-Documents-FinalProject/2812579a-ecee-485f-bc45-60f1e059f3bb/scratchpad/img/b5.jpg">    </p:cNvPr>
          <p:cNvPicPr>
            <a:picLocks noChangeAspect="1"/>
          </p:cNvPicPr>
          <p:nvPr/>
        </p:nvPicPr>
        <p:blipFill>
          <a:blip r:embed="rId3"/>
          <a:srcRect l="0" r="0" t="0" b="0"/>
          <a:stretch/>
        </p:blipFill>
        <p:spPr>
          <a:xfrm>
            <a:off x="6035040" y="1234440"/>
            <a:ext cx="2651760" cy="1490472"/>
          </a:xfrm>
          <a:prstGeom prst="rect">
            <a:avLst/>
          </a:prstGeom>
        </p:spPr>
      </p:pic>
      <p:sp>
        <p:nvSpPr>
          <p:cNvPr id="8" name="Text 3"/>
          <p:cNvSpPr txBox="1"/>
          <p:nvPr/>
        </p:nvSpPr>
        <p:spPr>
          <a:xfrm>
            <a:off x="6035040" y="2816352"/>
            <a:ext cx="2651760" cy="320040"/>
          </a:xfrm>
          <a:prstGeom prst="rect">
            <a:avLst/>
          </a:prstGeom>
          <a:noFill/>
          <a:ln/>
        </p:spPr>
        <p:txBody>
          <a:bodyPr wrap="square" lIns="0" tIns="0" rIns="0" bIns="0" rtlCol="0" anchor="ctr"/>
          <a:lstStyle/>
          <a:p>
            <a:pPr indent="0" marL="0">
              <a:buNone/>
            </a:pPr>
            <a:r>
              <a:rPr lang="en-US" sz="1500" b="1" dirty="0">
                <a:solidFill>
                  <a:schemeClr val="tx1"/>
                </a:solidFill>
              </a:rPr>
              <a:t>5 · 쌍검 악마군주</a:t>
            </a:r>
            <a:endParaRPr lang="en-US" sz="1500" dirty="0"/>
          </a:p>
        </p:txBody>
      </p:sp>
      <p:sp>
        <p:nvSpPr>
          <p:cNvPr id="9" name="Boss rules"/>
          <p:cNvSpPr txBox="1"/>
          <p:nvPr/>
        </p:nvSpPr>
        <p:spPr>
          <a:xfrm>
            <a:off x="457200" y="333756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보스 처치 → 종료점 생성 → 스테이지 클리어 → 다음 스테이지</a:t>
            </a:r>
            <a:endParaRPr lang="en-US" sz="1600" dirty="0"/>
          </a:p>
          <a:p>
            <a:pPr marL="342900" indent="-342900">
              <a:spcAft>
                <a:spcPts val="800"/>
              </a:spcAft>
              <a:buSzPct val="100000"/>
              <a:buChar char="•"/>
            </a:pPr>
            <a:r>
              <a:rPr lang="en-US" sz="1600" dirty="0">
                <a:solidFill>
                  <a:schemeClr val="tx1"/>
                </a:solidFill>
              </a:rPr>
              <a:t>마지막 5-5 종료점에 도달하면 엔딩 화면</a:t>
            </a:r>
            <a:endParaRPr lang="en-US" sz="1600" dirty="0"/>
          </a:p>
          <a:p>
            <a:pPr marL="342900" indent="-342900">
              <a:spcAft>
                <a:spcPts val="800"/>
              </a:spcAft>
              <a:buSzPct val="100000"/>
              <a:buChar char="•"/>
            </a:pPr>
            <a:r>
              <a:rPr lang="en-US" sz="1600" dirty="0">
                <a:solidFill>
                  <a:schemeClr val="tx1"/>
                </a:solidFill>
              </a:rPr>
              <a:t>최종 보스: 일반공격 3종 + 연계 특공 2종 (특공 각 40 피해)</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겪은 문제와 다음 단계</a:t>
            </a:r>
            <a:endParaRPr lang="en-US" sz="3200" dirty="0"/>
          </a:p>
        </p:txBody>
      </p:sp>
      <p:sp>
        <p:nvSpPr>
          <p:cNvPr id="3" name="Column card 1"/>
          <p:cNvSpPr/>
          <p:nvPr/>
        </p:nvSpPr>
        <p:spPr>
          <a:xfrm>
            <a:off x="457200" y="1234440"/>
            <a:ext cx="4023360" cy="3017520"/>
          </a:xfrm>
          <a:prstGeom prst="roundRect">
            <a:avLst>
              <a:gd name="adj" fmla="val 2424"/>
            </a:avLst>
          </a:prstGeom>
          <a:solidFill>
            <a:schemeClr val="bg2"/>
          </a:solidFill>
          <a:ln/>
        </p:spPr>
      </p:sp>
      <p:sp>
        <p:nvSpPr>
          <p:cNvPr id="4" name="Column icon circle 1"/>
          <p:cNvSpPr/>
          <p:nvPr/>
        </p:nvSpPr>
        <p:spPr>
          <a:xfrm>
            <a:off x="685800" y="1417320"/>
            <a:ext cx="502920" cy="502920"/>
          </a:xfrm>
          <a:prstGeom prst="ellipse">
            <a:avLst/>
          </a:prstGeom>
          <a:solidFill>
            <a:schemeClr val="accent1"/>
          </a:solidFill>
          <a:ln/>
        </p:spPr>
      </p:sp>
      <p:pic>
        <p:nvPicPr>
          <p:cNvPr id="5" name="Column icon 1" descr="preencoded.png">    </p:cNvPr>
          <p:cNvPicPr>
            <a:picLocks noChangeAspect="1"/>
          </p:cNvPicPr>
          <p:nvPr/>
        </p:nvPicPr>
        <p:blipFill>
          <a:blip r:embed="rId1"/>
          <a:stretch>
            <a:fillRect/>
          </a:stretch>
        </p:blipFill>
        <p:spPr>
          <a:xfrm>
            <a:off x="804672" y="1536192"/>
            <a:ext cx="265176" cy="265176"/>
          </a:xfrm>
          <a:prstGeom prst="rect">
            <a:avLst/>
          </a:prstGeom>
        </p:spPr>
      </p:pic>
      <p:sp>
        <p:nvSpPr>
          <p:cNvPr id="6" name="Text 3"/>
          <p:cNvSpPr txBox="1"/>
          <p:nvPr/>
        </p:nvSpPr>
        <p:spPr>
          <a:xfrm>
            <a:off x="1371600" y="141732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해결한 문제</a:t>
            </a:r>
            <a:endParaRPr lang="en-US" sz="1800" dirty="0"/>
          </a:p>
        </p:txBody>
      </p:sp>
      <p:sp>
        <p:nvSpPr>
          <p:cNvPr id="7" name="Column list 1"/>
          <p:cNvSpPr txBox="1"/>
          <p:nvPr/>
        </p:nvSpPr>
        <p:spPr>
          <a:xfrm>
            <a:off x="685800" y="2148840"/>
            <a:ext cx="361188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발이 발판을 파고듦 → 외형(Visual) 분리</a:t>
            </a:r>
            <a:endParaRPr lang="en-US" sz="1600" dirty="0"/>
          </a:p>
          <a:p>
            <a:pPr marL="342900" indent="-342900">
              <a:spcAft>
                <a:spcPts val="1000"/>
              </a:spcAft>
              <a:buSzPct val="100000"/>
              <a:buChar char="•"/>
            </a:pPr>
            <a:r>
              <a:rPr lang="en-US" sz="1600" dirty="0">
                <a:solidFill>
                  <a:schemeClr val="tx1"/>
                </a:solidFill>
              </a:rPr>
              <a:t>이동형 발판 위에서 점프 불가 → 보정 코드 충돌 해소</a:t>
            </a:r>
            <a:endParaRPr lang="en-US" sz="1600" dirty="0"/>
          </a:p>
          <a:p>
            <a:pPr marL="342900" indent="-342900">
              <a:spcAft>
                <a:spcPts val="1000"/>
              </a:spcAft>
              <a:buSzPct val="100000"/>
              <a:buChar char="•"/>
            </a:pPr>
            <a:r>
              <a:rPr lang="en-US" sz="1600" dirty="0">
                <a:solidFill>
                  <a:schemeClr val="tx1"/>
                </a:solidFill>
              </a:rPr>
              <a:t>경사면 접지 오류 → 레이캐스트 자기 감지 제거</a:t>
            </a:r>
            <a:endParaRPr lang="en-US" sz="1600" dirty="0"/>
          </a:p>
        </p:txBody>
      </p:sp>
      <p:sp>
        <p:nvSpPr>
          <p:cNvPr id="8" name="Column card 2"/>
          <p:cNvSpPr/>
          <p:nvPr/>
        </p:nvSpPr>
        <p:spPr>
          <a:xfrm>
            <a:off x="4663440" y="1234440"/>
            <a:ext cx="4023360" cy="3017520"/>
          </a:xfrm>
          <a:prstGeom prst="roundRect">
            <a:avLst>
              <a:gd name="adj" fmla="val 2424"/>
            </a:avLst>
          </a:prstGeom>
          <a:solidFill>
            <a:schemeClr val="bg2"/>
          </a:solidFill>
          <a:ln/>
        </p:spPr>
      </p:sp>
      <p:sp>
        <p:nvSpPr>
          <p:cNvPr id="9" name="Column icon circle 2"/>
          <p:cNvSpPr/>
          <p:nvPr/>
        </p:nvSpPr>
        <p:spPr>
          <a:xfrm>
            <a:off x="4892040" y="1417320"/>
            <a:ext cx="502920" cy="502920"/>
          </a:xfrm>
          <a:prstGeom prst="ellipse">
            <a:avLst/>
          </a:prstGeom>
          <a:solidFill>
            <a:schemeClr val="accent1"/>
          </a:solidFill>
          <a:ln/>
        </p:spPr>
      </p:sp>
      <p:pic>
        <p:nvPicPr>
          <p:cNvPr id="10" name="Column icon 2" descr="preencoded.png">    </p:cNvPr>
          <p:cNvPicPr>
            <a:picLocks noChangeAspect="1"/>
          </p:cNvPicPr>
          <p:nvPr/>
        </p:nvPicPr>
        <p:blipFill>
          <a:blip r:embed="rId2"/>
          <a:stretch>
            <a:fillRect/>
          </a:stretch>
        </p:blipFill>
        <p:spPr>
          <a:xfrm>
            <a:off x="5010912" y="1536192"/>
            <a:ext cx="265176" cy="265176"/>
          </a:xfrm>
          <a:prstGeom prst="rect">
            <a:avLst/>
          </a:prstGeom>
        </p:spPr>
      </p:pic>
      <p:sp>
        <p:nvSpPr>
          <p:cNvPr id="11" name="Text 7"/>
          <p:cNvSpPr txBox="1"/>
          <p:nvPr/>
        </p:nvSpPr>
        <p:spPr>
          <a:xfrm>
            <a:off x="5577840" y="141732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다음 단계</a:t>
            </a:r>
            <a:endParaRPr lang="en-US" sz="1800" dirty="0"/>
          </a:p>
        </p:txBody>
      </p:sp>
      <p:sp>
        <p:nvSpPr>
          <p:cNvPr id="12" name="Column list 2"/>
          <p:cNvSpPr txBox="1"/>
          <p:nvPr/>
        </p:nvSpPr>
        <p:spPr>
          <a:xfrm>
            <a:off x="4892040" y="2148840"/>
            <a:ext cx="361188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남은 영역의 Unity 적용</a:t>
            </a:r>
            <a:endParaRPr lang="en-US" sz="1600" dirty="0"/>
          </a:p>
          <a:p>
            <a:pPr marL="342900" indent="-342900">
              <a:spcAft>
                <a:spcPts val="1000"/>
              </a:spcAft>
              <a:buSzPct val="100000"/>
              <a:buChar char="•"/>
            </a:pPr>
            <a:r>
              <a:rPr lang="en-US" sz="1600" dirty="0">
                <a:solidFill>
                  <a:schemeClr val="tx1"/>
                </a:solidFill>
              </a:rPr>
              <a:t>보스존 마무리와 연출</a:t>
            </a:r>
            <a:endParaRPr lang="en-US" sz="1600" dirty="0"/>
          </a:p>
          <a:p>
            <a:pPr marL="342900" indent="-342900">
              <a:spcAft>
                <a:spcPts val="1000"/>
              </a:spcAft>
              <a:buSzPct val="100000"/>
              <a:buChar char="•"/>
            </a:pPr>
            <a:r>
              <a:rPr lang="en-US" sz="1600" dirty="0">
                <a:solidFill>
                  <a:schemeClr val="tx1"/>
                </a:solidFill>
              </a:rPr>
              <a:t>아이템·가속 버프 다듬기, 전체 플레이 테스트</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DemonCastle">
  <a:themeElements>
    <a:clrScheme name="DemonCastle">
      <a:dk1>
        <a:srgbClr val="F4EEE6"/>
      </a:dk1>
      <a:lt1>
        <a:srgbClr val="14111B"/>
      </a:lt1>
      <a:dk2>
        <a:srgbClr val="BDB4C9"/>
      </a:dk2>
      <a:lt2>
        <a:srgbClr val="262233"/>
      </a:lt2>
      <a:accent1>
        <a:srgbClr val="FF7A2F"/>
      </a:accent1>
      <a:accent2>
        <a:srgbClr val="C8283A"/>
      </a:accent2>
      <a:accent3>
        <a:srgbClr val="F2C14E"/>
      </a:accent3>
      <a:accent4>
        <a:srgbClr val="5FA8D3"/>
      </a:accent4>
      <a:accent5>
        <a:srgbClr val="7BC47F"/>
      </a:accent5>
      <a:accent6>
        <a:srgbClr val="8E7CC3"/>
      </a:accent6>
      <a:hlink>
        <a:srgbClr val="FF7A2F"/>
      </a:hlink>
      <a:folHlink>
        <a:srgbClr val="BDB4C9"/>
      </a:folHlink>
    </a:clrScheme>
    <a:fontScheme name="DemonCastl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마왕성으로 - 게임 제작 과정 발표</dc:title>
  <dc:subject>AI work record: Claude Sonnet 5.5 / completed 2026-10-19 / game making-of presentation (3-4 min, 8 slides)</dc:subject>
  <dc:creator>Claude Sonnet 5.5 (Claude Code)</dc:creator>
  <cp:lastModifiedBy>Claude Sonnet 5.5 (Claude Code)</cp:lastModifiedBy>
  <cp:revision>1</cp:revision>
  <dcterms:created xsi:type="dcterms:W3CDTF">2026-10-19T00:48:24Z</dcterms:created>
  <dcterms:modified xsi:type="dcterms:W3CDTF">2026-10-19T00:48:24Z</dcterms:modified>
</cp:coreProperties>
</file>